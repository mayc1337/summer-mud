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8c54ab29ff43b5" /><Relationship Type="http://schemas.openxmlformats.org/officeDocument/2006/relationships/extended-properties" Target="/docProps/app.xml" Id="Raf33ab185942433d" /><Relationship Type="http://schemas.openxmlformats.org/officeDocument/2006/relationships/officeDocument" Target="/ppt/presentation.xml" Id="R18dd20c0530a43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5ef6fe3d4b47b6"/>
  </p:sldMasterIdLst>
  <p:notesMasterIdLst>
    <p:notesMasterId xmlns:r="http://schemas.openxmlformats.org/officeDocument/2006/relationships" r:id="R1328ae264d644165"/>
  </p:notesMasterIdLst>
  <p:sldIdLst>
    <p:sldId xmlns:r="http://schemas.openxmlformats.org/officeDocument/2006/relationships" id="256" r:id="R40887e89a2ba4630"/>
    <p:sldId xmlns:r="http://schemas.openxmlformats.org/officeDocument/2006/relationships" id="257" r:id="R3033b885f06a4848"/>
    <p:sldId xmlns:r="http://schemas.openxmlformats.org/officeDocument/2006/relationships" id="258" r:id="R26fbcad9b0e04a5c"/>
    <p:sldId xmlns:r="http://schemas.openxmlformats.org/officeDocument/2006/relationships" id="259" r:id="Re481e186a1ab4476"/>
    <p:sldId xmlns:r="http://schemas.openxmlformats.org/officeDocument/2006/relationships" id="260" r:id="R1885f3c043ef4cfa"/>
    <p:sldId xmlns:r="http://schemas.openxmlformats.org/officeDocument/2006/relationships" id="261" r:id="R337ca8aa3a2c42c9"/>
    <p:sldId xmlns:r="http://schemas.openxmlformats.org/officeDocument/2006/relationships" id="262" r:id="R28a0f40592fe4ae3"/>
    <p:sldId xmlns:r="http://schemas.openxmlformats.org/officeDocument/2006/relationships" id="263" r:id="R4e1422e1ee734feb"/>
    <p:sldId xmlns:r="http://schemas.openxmlformats.org/officeDocument/2006/relationships" id="264" r:id="R4720eed11e2e42f7"/>
    <p:sldId xmlns:r="http://schemas.openxmlformats.org/officeDocument/2006/relationships" id="265" r:id="R73f00c5f104e4d21"/>
    <p:sldId xmlns:r="http://schemas.openxmlformats.org/officeDocument/2006/relationships" id="266" r:id="Rad31b13d76104abc"/>
    <p:sldId xmlns:r="http://schemas.openxmlformats.org/officeDocument/2006/relationships" id="267" r:id="R5f5287ee2e3445e7"/>
    <p:sldId xmlns:r="http://schemas.openxmlformats.org/officeDocument/2006/relationships" id="268" r:id="R57490c0df09c49b7"/>
    <p:sldId xmlns:r="http://schemas.openxmlformats.org/officeDocument/2006/relationships" id="269" r:id="R03d894d97051497f"/>
    <p:sldId xmlns:r="http://schemas.openxmlformats.org/officeDocument/2006/relationships" id="270" r:id="R6303363c78c44e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ed98120f7e40c7" /><Relationship Type="http://schemas.openxmlformats.org/officeDocument/2006/relationships/slideMaster" Target="/ppt/slideMasters/slideMaster1.xml" Id="Re95ef6fe3d4b47b6" /><Relationship Type="http://schemas.openxmlformats.org/officeDocument/2006/relationships/notesMaster" Target="/ppt/notesMasters/notesMaster1.xml" Id="R1328ae264d644165" /><Relationship Type="http://schemas.openxmlformats.org/officeDocument/2006/relationships/presProps" Target="/ppt/presProps.xml" Id="R5a325d4a6b884579" /><Relationship Type="http://schemas.openxmlformats.org/officeDocument/2006/relationships/tableStyles" Target="/ppt/tableStyles.xml" Id="R3a3ccad17fd54cd8" /><Relationship Type="http://schemas.openxmlformats.org/officeDocument/2006/relationships/slide" Target="/ppt/slides/slide1.xml" Id="R40887e89a2ba4630" /><Relationship Type="http://schemas.openxmlformats.org/officeDocument/2006/relationships/slide" Target="/ppt/slides/slide2.xml" Id="R3033b885f06a4848" /><Relationship Type="http://schemas.openxmlformats.org/officeDocument/2006/relationships/slide" Target="/ppt/slides/slide3.xml" Id="R26fbcad9b0e04a5c" /><Relationship Type="http://schemas.openxmlformats.org/officeDocument/2006/relationships/slide" Target="/ppt/slides/slide4.xml" Id="Re481e186a1ab4476" /><Relationship Type="http://schemas.openxmlformats.org/officeDocument/2006/relationships/slide" Target="/ppt/slides/slide5.xml" Id="R1885f3c043ef4cfa" /><Relationship Type="http://schemas.openxmlformats.org/officeDocument/2006/relationships/slide" Target="/ppt/slides/slide6.xml" Id="R337ca8aa3a2c42c9" /><Relationship Type="http://schemas.openxmlformats.org/officeDocument/2006/relationships/slide" Target="/ppt/slides/slide7.xml" Id="R28a0f40592fe4ae3" /><Relationship Type="http://schemas.openxmlformats.org/officeDocument/2006/relationships/slide" Target="/ppt/slides/slide8.xml" Id="R4e1422e1ee734feb" /><Relationship Type="http://schemas.openxmlformats.org/officeDocument/2006/relationships/slide" Target="/ppt/slides/slide9.xml" Id="R4720eed11e2e42f7" /><Relationship Type="http://schemas.openxmlformats.org/officeDocument/2006/relationships/slide" Target="/ppt/slides/slide10.xml" Id="R73f00c5f104e4d21" /><Relationship Type="http://schemas.openxmlformats.org/officeDocument/2006/relationships/slide" Target="/ppt/slides/slide11.xml" Id="Rad31b13d76104abc" /><Relationship Type="http://schemas.openxmlformats.org/officeDocument/2006/relationships/slide" Target="/ppt/slides/slide12.xml" Id="R5f5287ee2e3445e7" /><Relationship Type="http://schemas.openxmlformats.org/officeDocument/2006/relationships/slide" Target="/ppt/slides/slide13.xml" Id="R57490c0df09c49b7" /><Relationship Type="http://schemas.openxmlformats.org/officeDocument/2006/relationships/slide" Target="/ppt/slides/slide14.xml" Id="R03d894d97051497f" /><Relationship Type="http://schemas.openxmlformats.org/officeDocument/2006/relationships/slide" Target="/ppt/slides/slide15.xml" Id="R6303363c78c44e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194920275d40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c19518f6c04e85" /><Relationship Type="http://schemas.openxmlformats.org/officeDocument/2006/relationships/notesMaster" Target="/ppt/notesMasters/notesMaster1.xml" Id="Rf310867002bd4c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d15a3a6e8f459d" /><Relationship Type="http://schemas.openxmlformats.org/officeDocument/2006/relationships/notesMaster" Target="/ppt/notesMasters/notesMaster1.xml" Id="R917b7480558644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a4c6b3f5bc412c" /><Relationship Type="http://schemas.openxmlformats.org/officeDocument/2006/relationships/notesMaster" Target="/ppt/notesMasters/notesMaster1.xml" Id="R801ca8d731b54a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d1d38ca1d34c4f" /><Relationship Type="http://schemas.openxmlformats.org/officeDocument/2006/relationships/notesMaster" Target="/ppt/notesMasters/notesMaster1.xml" Id="R06a26c1999954e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a20eea7d4d4eba" /><Relationship Type="http://schemas.openxmlformats.org/officeDocument/2006/relationships/notesMaster" Target="/ppt/notesMasters/notesMaster1.xml" Id="R456af936fdbc4e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246edf77274e89" /><Relationship Type="http://schemas.openxmlformats.org/officeDocument/2006/relationships/notesMaster" Target="/ppt/notesMasters/notesMaster1.xml" Id="Rffc95ec0ecdd4d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ac9f9862f74c90" /><Relationship Type="http://schemas.openxmlformats.org/officeDocument/2006/relationships/notesMaster" Target="/ppt/notesMasters/notesMaster1.xml" Id="R111b8a357db04e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d4ba1645d142d4" /><Relationship Type="http://schemas.openxmlformats.org/officeDocument/2006/relationships/notesMaster" Target="/ppt/notesMasters/notesMaster1.xml" Id="Rb9870e9f65a648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9c0026d399413c" /><Relationship Type="http://schemas.openxmlformats.org/officeDocument/2006/relationships/notesMaster" Target="/ppt/notesMasters/notesMaster1.xml" Id="R23be702a868842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3529c1f7c64163" /><Relationship Type="http://schemas.openxmlformats.org/officeDocument/2006/relationships/notesMaster" Target="/ppt/notesMasters/notesMaster1.xml" Id="R303659bafe8841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9f373f7f014c2a" /><Relationship Type="http://schemas.openxmlformats.org/officeDocument/2006/relationships/notesMaster" Target="/ppt/notesMasters/notesMaster1.xml" Id="R81dc868293df44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dcb8e458d14054" /><Relationship Type="http://schemas.openxmlformats.org/officeDocument/2006/relationships/notesMaster" Target="/ppt/notesMasters/notesMaster1.xml" Id="R834e5afb29a04b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cda5c7b27945ad" /><Relationship Type="http://schemas.openxmlformats.org/officeDocument/2006/relationships/notesMaster" Target="/ppt/notesMasters/notesMaster1.xml" Id="R7aa5d4020b1640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ff940676f346b4" /><Relationship Type="http://schemas.openxmlformats.org/officeDocument/2006/relationships/notesMaster" Target="/ppt/notesMasters/notesMaster1.xml" Id="Rc3f6dd9edba94a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fdb7607ca745cf" /><Relationship Type="http://schemas.openxmlformats.org/officeDocument/2006/relationships/notesMaster" Target="/ppt/notesMasters/notesMaster1.xml" Id="R90f0f897e52845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们设计了一款以高考前35天为背景的文字MUD游戏《铃响之前》。这次展示从故事和需求出发，再介绍类设计、核心算法、STL应用、测试与程序演示。上台前请填写汇报人和小组信息。来源：当前Summer-MUD项目源码与V1.0需求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故事背景：玩家扮演一名高三学生，在最后35天里安排每天四个时段。游戏不强调战斗，而强调时间分配和状态管理。每周六安排周测，帮助玩家了解自己的复习效果。连续故事涉及同桌、班主任、家人和流浪猫，最终分数与状态共同影响结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介绍可按这条主线讲。程序启动后选择新游戏或继续游戏。普通学习日包含四个时段，第六天开始出现周测。地图与NPC属于晚间扩展，但不改变核心35天调度。SaveManager负责自动保存状态，Ending根据最终成绩和状态给出结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BS从项目交付角度拆解工作。第一阶段确定需求和接口。第二阶段建立核心循环。第三阶段完成独立功能模块。第四阶段做整合与回归测试。最后形成可执行程序、课程设计报告和课堂展示。正式答辩时可以结合本组真实分工补充每位成员的责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例图只描述玩家能够完成的目标，不展示类和函数。玩家可以开始或继续游戏，选择行动，查看信息，探索地图和NPC，参加每周周测，保存退出，并最终查看高考成绩与结局。时间推进和分数计算由系统自动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采用分层和模块化设计。ConsoleUI与CommandParser处理输出和输入。GameManager处在中间，决定当前执行哪个阶段。Action、EventManager、Exam等负责具体业务。Player和地图对象保存数据。SaveManager是唯一集中处理存档文件的模块，避免把文件读写散落在各个类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类图以GameManager为中心。它持有时间、进度、事件、考试、存档等对象，并使用unique_ptr管理玩家。TimeManager只管理日期。GameProgress记录当天阶段，用于中途恢复。Action不拥有地图，只保存一个非拥有指针。SaveManager通过参数读取各对象数据，不接管它们的生命周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yer组合Stats和Inventory，Inventory再组合多个Item，符合Player、Stats、Inventory、Item的既定关系。CampusMap使用map保存Room，NPC根据地点和时段判断是否出现。Event和NPC通过Player公开接口修改状态，不直接访问Player私有成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循环使用状态机。学习日依次进行四个时段，每个时段结束后检查故事。星期六直接进入周测，星期日执行休息。所有分支最终进入FinishDay，只有这里调用advanceDay。每个阶段完成后自动保存下一阶段，因此读档不会重复扣钱、加属性或重复计算周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玩家在任意输入位置输入quit。CommandParser把命令交给GameManager。GameManager先同步当前位置、阶段和未完成选项，再调用SaveManager。SaveManager先写临时文件，检查成功后替换save.txt。只有保存成功才退出。继续游戏时先解析并验证到局部变量，全部合法后再恢复玩家和各管理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L部分建议结合源码举例。vector保存顺序集合。map通过字符串ID查房间。set天然去重，适合已触发事件。array用于固定数量的数据。queue支持BFS。find_if和any_of用于物品查找，reverse恢复路径顺序，clamp限制属性范围。范围for和迭代器让遍历方式统一。没有实际使用的sort不列为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FS从当前地点开始按层搜索，用queue维护待访问房间，用map记录每个房间的前驱，到达目标后回溯并reverse得到正向路线。在9个地点的小图中开销很小。考试算法综合学科能力和状态。周测加入小幅随机波动，智力较高时波动缩小。最终高考不加入随机波动，便于稳定复现结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强调诚实对应源码。GameManager使用单例。EventFactory是简单工厂。GameProgress的Stage构成状态机。CommandParser通过std::function注册回调。unique_ptr和临时文件清理体现RAII。早期文档提到Observer，但当前项目没有完整观察者接口，所以答辩中不应声称已经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分三层。CoreRegression验证基础类和边界。StoryIntegration验证多个模块组合。runtime_regression脚本直接运行最终EXE并输入命令，检查完整35天。自动测试验证了5次周测、16段故事和9个地点连通。自动测试不能替代小组互测，报告中还应记录同学实际试玩发现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程序演示建议控制在三分钟。先新建玩家并执行一个行动，然后输入地图和方向命令，到达地点后与NPC交谈。现场完整玩到周测需要太久，所以提前准备一个第5天或第34天的存档，演示继续游戏、周测和结局。结束时总结：本项目把面向对象、STL、文件读写、算法与测试落实到一个完整可运行的程序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ef06b864d42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312589de414310" /><Relationship Type="http://schemas.openxmlformats.org/officeDocument/2006/relationships/slideLayout" Target="/ppt/slideLayouts/slideLayout1.xml" Id="Rfc4817b6431742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4817b6431742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92510e0084b78" /><Relationship Type="http://schemas.openxmlformats.org/officeDocument/2006/relationships/notesSlide" Target="/ppt/notesSlides/notesSlide1.xml" Id="R9bac21f54d7842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b592aea4b41b0" /><Relationship Type="http://schemas.openxmlformats.org/officeDocument/2006/relationships/notesSlide" Target="/ppt/notesSlides/notesSlide2.xml" Id="R3af28616803d42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e42364ff74cac" /><Relationship Type="http://schemas.openxmlformats.org/officeDocument/2006/relationships/notesSlide" Target="/ppt/notesSlides/notesSlide3.xml" Id="R60cbc5a162c54c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652cb336149ba" /><Relationship Type="http://schemas.openxmlformats.org/officeDocument/2006/relationships/notesSlide" Target="/ppt/notesSlides/notesSlide4.xml" Id="Rb7c87c21e2bb4d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5b2ee64ff40df" /><Relationship Type="http://schemas.openxmlformats.org/officeDocument/2006/relationships/notesSlide" Target="/ppt/notesSlides/notesSlide5.xml" Id="R14b92e6359f249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e81496d9640bf" /><Relationship Type="http://schemas.openxmlformats.org/officeDocument/2006/relationships/notesSlide" Target="/ppt/notesSlides/notesSlide6.xml" Id="Rbd93479c92a145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53d7cdabe4b4d" /><Relationship Type="http://schemas.openxmlformats.org/officeDocument/2006/relationships/notesSlide" Target="/ppt/notesSlides/notesSlide7.xml" Id="R7d77425d8fc64f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b06b39e404f1d" /><Relationship Type="http://schemas.openxmlformats.org/officeDocument/2006/relationships/notesSlide" Target="/ppt/notesSlides/notesSlide8.xml" Id="R5e0d242ea4b64a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9cddc59114101" /><Relationship Type="http://schemas.openxmlformats.org/officeDocument/2006/relationships/notesSlide" Target="/ppt/notesSlides/notesSlide9.xml" Id="R1382115e4fe443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18a1eda3c4eff" /><Relationship Type="http://schemas.openxmlformats.org/officeDocument/2006/relationships/notesSlide" Target="/ppt/notesSlides/notesSlide10.xml" Id="R24fadcfcc6124c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dc4b88c92486c" /><Relationship Type="http://schemas.openxmlformats.org/officeDocument/2006/relationships/notesSlide" Target="/ppt/notesSlides/notesSlide11.xml" Id="R1d48923659b64b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33c87e4f243e7" /><Relationship Type="http://schemas.openxmlformats.org/officeDocument/2006/relationships/notesSlide" Target="/ppt/notesSlides/notesSlide12.xml" Id="R55cc3ca7191a42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236f33676442a" /><Relationship Type="http://schemas.openxmlformats.org/officeDocument/2006/relationships/notesSlide" Target="/ppt/notesSlides/notesSlide13.xml" Id="R36440f48f25544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500a4ed2046c3" /><Relationship Type="http://schemas.openxmlformats.org/officeDocument/2006/relationships/notesSlide" Target="/ppt/notesSlides/notesSlide14.xml" Id="Reeb83634b66d41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b656bd88641e0" /><Relationship Type="http://schemas.openxmlformats.org/officeDocument/2006/relationships/notesSlide" Target="/ppt/notesSlides/notesSlide15.xml" Id="Rf89b34bc33814e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56308-651F-4DFE-AFDD-D42DCD5F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C653A-53C6-446B-9B6C-618A7687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3825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9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9EC"/>
                </a:solidFill>
                <a:latin typeface="Microsoft YaHei"/>
                <a:ea typeface="Microsoft YaHei"/>
                <a:cs typeface="Microsoft YaHei"/>
              </a:rPr>
              <a:t>铃  响  之  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9FFB1-0E5B-4BD2-957C-3C10C939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ECB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ECBBC"/>
                </a:solidFill>
                <a:latin typeface="Microsoft YaHei"/>
                <a:ea typeface="Microsoft YaHei"/>
                <a:cs typeface="Microsoft YaHei"/>
              </a:rPr>
              <a:t>高考倒计时 35 天的 C++ 文字 MUD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59792-729C-4874-AC34-F76243B2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57500"/>
            <a:ext cx="742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F7FFD-3B9C-482F-B3FD-EC9A4448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课程设计课堂展示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D5E10-C019-49AB-B5A5-FB948DED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0C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0C45C"/>
                </a:solidFill>
                <a:latin typeface="Microsoft YaHei"/>
                <a:ea typeface="Microsoft YaHei"/>
                <a:cs typeface="Microsoft YaHei"/>
              </a:rPr>
              <a:t>故事背景  系统设计  核心算法  STL  程序演示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DCFBE-44BA-414A-BD6F-8BA90F59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066800"/>
            <a:ext cx="219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700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0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C5273-2030-4AED-A837-7EE97631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ECB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ECBBC"/>
                </a:solidFill>
                <a:latin typeface="Microsoft YaHei"/>
                <a:ea typeface="Microsoft YaHei"/>
                <a:cs typeface="Microsoft YaHei"/>
              </a:rPr>
              <a:t>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7C504-060B-4164-AF79-0B3E9332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055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F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7EFEA"/>
                </a:solidFill>
                <a:latin typeface="Microsoft YaHei"/>
                <a:ea typeface="Microsoft YaHei"/>
                <a:cs typeface="Microsoft YaHei"/>
              </a:rPr>
              <a:t>汇报人：________    小组：________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5A03A-765A-41C5-B632-7C529700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626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0C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C45C"/>
                </a:solidFill>
                <a:latin typeface="Microsoft YaHei"/>
                <a:ea typeface="Microsoft YaHei"/>
                <a:cs typeface="Microsoft YaHei"/>
              </a:rPr>
              <a:t>C++17</a:t>
            </a:r>
          </a:p>
        </p:txBody>
      </p:sp>
    </p:spTree>
    <p:extLst>
      <p:ext uri="{BB962C8B-B14F-4D97-AF65-F5344CB8AC3E}">
        <p14:creationId xmlns:p14="http://schemas.microsoft.com/office/powerpoint/2010/main" val="1802924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40D32-98EE-46E6-AE6C-61D597A7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E15C6-CF2B-43DE-8464-008E4EA9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故事背景与设计目标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A7DE2-D03D-4FB7-AC5A-5441BC3D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把35天复习生活压缩成可选择、可反馈、可回顾的一段校园故事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42C9D-B60D-4BEB-98CB-B097DA12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1279F-1492-48E6-AFE8-8045DA69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4A569-D9B9-4D79-BB2A-1CD15F6F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黑板上的倒计时从 35 开始。玩家要在学习、休息、社交和娱乐之间分配时间，并在每周六通过周测观察变化。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1EC98-8E1A-446F-B700-D17EE9CA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381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晨间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0E203-371D-400F-A3D1-3DFEB19F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38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晨读、早餐、梳理弱科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7AE40-584A-4208-89FA-C16B8184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714625"/>
            <a:ext cx="1381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午间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AEF7F-1E9F-4D85-9776-4370B218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19450"/>
            <a:ext cx="138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吃饭、午休、同学交流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DC8F9-7DD9-4FA5-B7BC-9896AEF2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14625"/>
            <a:ext cx="1381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90008-3620-4907-824B-9D104154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19450"/>
            <a:ext cx="138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课堂学习、专项练习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56B92-AF11-498C-B60F-CFF84325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714625"/>
            <a:ext cx="1381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晚间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CF97C-930A-4C38-AAFB-0A427089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219450"/>
            <a:ext cx="138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地图探索、购物、休息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2762C-CFBD-4C31-8933-3FA4E8F8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95425"/>
            <a:ext cx="3286125" cy="3905250"/>
          </a:xfrm>
          <a:prstGeom xmlns:a="http://schemas.openxmlformats.org/drawingml/2006/main" prst="roundRect">
            <a:avLst>
              <a:gd name="adj" fmla="val 4638"/>
            </a:avLst>
          </a:prstGeom>
          <a:solidFill xmlns:a="http://schemas.openxmlformats.org/drawingml/2006/main">
            <a:srgbClr val="193B33"/>
          </a:solidFill>
          <a:ln xmlns:a="http://schemas.openxmlformats.org/drawingml/2006/main" w="14288">
            <a:solidFill>
              <a:srgbClr val="193B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155CE-A095-4207-9ECE-F98DB9FB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ECB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ECBBC"/>
                </a:solidFill>
                <a:latin typeface="Microsoft YaHei"/>
                <a:ea typeface="Microsoft YaHei"/>
                <a:cs typeface="Microsoft YaHei"/>
              </a:rPr>
              <a:t>倒计时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43DBB-5309-4D4A-B2A2-6D35D3AB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261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0554B7-4345-4F87-8A09-4E0EBC4A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480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9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9EC"/>
                </a:solidFill>
                <a:latin typeface="Microsoft YaHei"/>
                <a:ea typeface="Microsoft YaHei"/>
                <a:cs typeface="Microsoft YaHei"/>
              </a:rPr>
              <a:t>5 次周测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59D180-910F-4983-B256-4917EC19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19550"/>
            <a:ext cx="252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 段连续故事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 个校园地点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多种考试与人生结局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EB757-B2FD-4A89-B0E8-87A04C57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657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核心体验：选择行动，观察数值变化，根据周测调整策略，完成35天后获得最终成绩与结局。</a:t>
            </a:r>
          </a:p>
        </p:txBody>
      </p:sp>
    </p:spTree>
    <p:extLst>
      <p:ext uri="{BB962C8B-B14F-4D97-AF65-F5344CB8AC3E}">
        <p14:creationId xmlns:p14="http://schemas.microsoft.com/office/powerpoint/2010/main" val="5762641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A0FE3-6857-4CAE-A9E6-E10C8FD1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65705-2F44-4B7F-AAA5-74B7ACE0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功能需求与游戏主线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16E7C-5826-42FD-B966-4158AFB0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课堂演示聚焦能够直接观察和验证的功能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896E6-9CBA-4BE2-BA2E-A302499B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30AB6-FF4F-4200-B2D5-58068275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2D5FB-3B98-404A-8985-74524341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18097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新游戏 / 读档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创建玩家或恢复V4存档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DD122-0F80-4A5F-8FAA-8B53332B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52625"/>
            <a:ext cx="18097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每日行动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上午、中午、下午、晚间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90CD5-16B5-4E78-BC51-DCAC0EC2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952625"/>
            <a:ext cx="18097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故事与地图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事件选择、NPC对话、地点移动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7E653-3704-40DB-8726-064FFB60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52625"/>
            <a:ext cx="18097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9934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周测反馈</a:t>
            </a:r>
          </a:p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第6、13、20、27、34天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E484C-242B-4B19-B4E9-F6FD7AFC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952625"/>
            <a:ext cx="18097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高考与结局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750分制、大学去向、成长回忆</a:t>
            </a:r>
          </a:p>
        </p:txBody>
      </p: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33625" y="24669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9343"/>
            </a:solidFill>
            <a:prstDash val="solid"/>
            <a:head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38675" y="24669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9343"/>
            </a:solidFill>
            <a:prstDash val="solid"/>
            <a:head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43725" y="24669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9343"/>
            </a:solidFill>
            <a:prstDash val="solid"/>
            <a:head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48775" y="24669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9343"/>
            </a:solidFill>
            <a:prstDash val="solid"/>
            <a:head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4062C-58CE-4DFE-94B8-CEC0EE52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7145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玩家可见功能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E6268-9E1B-4BF0-A2F9-BF5F84FC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4953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菜单数字选择，同时支持中文和英文命令</a:t>
            </a:r>
          </a:p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进入地点自动提示NPC，交谈不消耗行动</a:t>
            </a:r>
          </a:p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行动后立即显示属性变化，每日显示简短状态</a:t>
            </a:r>
          </a:p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自动存档，可从未完成阶段继续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80903-F55F-41E6-A78C-5917B905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17145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系统约束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4C151-AD8F-44DF-A157-578EA20A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762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游戏固定35天，星期六周测，星期日休息</a:t>
            </a:r>
          </a:p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属性范围0到100，考试按750分制换算</a:t>
            </a:r>
          </a:p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随机事件每次最多触发一个，已触发事件不重复</a:t>
            </a:r>
          </a:p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损坏或版本不匹配的存档拒绝读取</a:t>
            </a:r>
          </a:p>
        </p:txBody>
      </p:sp>
    </p:spTree>
    <p:extLst>
      <p:ext uri="{BB962C8B-B14F-4D97-AF65-F5344CB8AC3E}">
        <p14:creationId xmlns:p14="http://schemas.microsoft.com/office/powerpoint/2010/main" val="1851204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C446B7-67F3-47CF-BCB4-A76DBAB2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4B593-2D00-472A-A53B-B8FBF416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WBS 工作分解结构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7459C-8479-4BC3-BE54-A1CB7C9A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需求分析把项目拆成5个可交付阶段，每个阶段都有明确产物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D3533-2DF5-4739-A5D3-073A1B4D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3912E-A49F-46D1-8577-8DBF24B9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D2C42-6FFF-42F1-BC29-09DA99D8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52550"/>
            <a:ext cx="2952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93B33"/>
          </a:solidFill>
          <a:ln xmlns:a="http://schemas.openxmlformats.org/drawingml/2006/main" w="9525">
            <a:solidFill>
              <a:srgbClr val="193B3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《铃响之前》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课程设计项目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98150-BFAA-4902-AA4F-3720F9DE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62250"/>
            <a:ext cx="2000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9525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需求与设计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898CD-5664-42B4-B023-7F7F83A9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24250"/>
            <a:ext cx="2000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故事规则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用例与WBS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类与接口</a:t>
            </a:r>
          </a:p>
        </p:txBody>
      </p:sp>
      <p:cxnSp>
        <p:nvCxnSpPr>
          <p:cNvPr id="36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1362075" y="1962150"/>
            <a:ext cx="4733925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CBBC"/>
            </a:solidFill>
            <a:prstDash val="solid"/>
            <a:head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362075" y="32766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1134A-C009-43CB-A935-BC16D9B9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62250"/>
            <a:ext cx="2000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9525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核心框架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68EE2-8D83-436A-A967-FC18A36C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24250"/>
            <a:ext cx="2000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35天调度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玩家属性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命令输入</a:t>
            </a:r>
          </a:p>
        </p:txBody>
      </p:sp>
      <p:cxnSp>
        <p:nvCxnSpPr>
          <p:cNvPr id="40" name=""/>
          <p:cNvCxnSpPr>
            <a:stCxn xmlns:a="http://schemas.openxmlformats.org/drawingml/2006/main" id="6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3724275" y="1962150"/>
            <a:ext cx="2371725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CBBC"/>
            </a:solidFill>
            <a:prstDash val="solid"/>
            <a:head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724275" y="32766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4482D-50CD-4E55-81F1-C482BD3C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62250"/>
            <a:ext cx="2000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9525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内容模块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906C9-D976-497C-8248-AE560422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24250"/>
            <a:ext cx="2000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行动事件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地图NPC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考试结局</a:t>
            </a:r>
          </a:p>
        </p:txBody>
      </p:sp>
      <p:cxnSp>
        <p:nvCxnSpPr>
          <p:cNvPr id="44" name=""/>
          <p:cNvCxnSpPr>
            <a:stCxn xmlns:a="http://schemas.openxmlformats.org/drawingml/2006/main" id="6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6086475" y="1962150"/>
            <a:ext cx="9525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CBBC"/>
            </a:solidFill>
            <a:prstDash val="solid"/>
            <a:head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86475" y="32766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2DA1F-46B5-497D-97B8-C9C367D3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62250"/>
            <a:ext cx="2000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9525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整合测试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C7E35D-9F65-4129-9547-DEB60512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24250"/>
            <a:ext cx="2000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存档恢复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模块联调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缺陷修复</a:t>
            </a:r>
          </a:p>
        </p:txBody>
      </p:sp>
      <p:cxnSp>
        <p:nvCxnSpPr>
          <p:cNvPr id="48" name=""/>
          <p:cNvCxnSpPr>
            <a:stCxn xmlns:a="http://schemas.openxmlformats.org/drawingml/2006/main" id="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096000" y="1962150"/>
            <a:ext cx="2352675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CBBC"/>
            </a:solidFill>
            <a:prstDash val="solid"/>
            <a:head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448675" y="32766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8FDDE-AD02-49A4-90F3-5905B454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0"/>
            <a:ext cx="2000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99343"/>
          </a:solidFill>
          <a:ln xmlns:a="http://schemas.openxmlformats.org/drawingml/2006/main" w="9525">
            <a:solidFill>
              <a:srgbClr val="E9934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交付展示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88119-FC19-4002-9224-7B301043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24250"/>
            <a:ext cx="2000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发布程序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设计报告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课堂演示</a:t>
            </a:r>
          </a:p>
        </p:txBody>
      </p:sp>
      <p:cxnSp>
        <p:nvCxnSpPr>
          <p:cNvPr id="52" name=""/>
          <p:cNvCxnSpPr>
            <a:stCxn xmlns:a="http://schemas.openxmlformats.org/drawingml/2006/main" id="6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096000" y="1962150"/>
            <a:ext cx="4714875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CBBC"/>
            </a:solidFill>
            <a:prstDash val="solid"/>
            <a:head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0810875" y="32766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559A7E-45D1-4E9F-831D-31B9A924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WBS用于回答“项目需要完成哪些工作”，后续类图和流程图再回答“程序怎样实现”。</a:t>
            </a:r>
          </a:p>
        </p:txBody>
      </p:sp>
    </p:spTree>
    <p:extLst>
      <p:ext uri="{BB962C8B-B14F-4D97-AF65-F5344CB8AC3E}">
        <p14:creationId xmlns:p14="http://schemas.microsoft.com/office/powerpoint/2010/main" val="335497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728EDB-3948-404F-929F-02968215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17502-BC99-496F-A7E7-6B514AC1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Use-Case 用例图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857B3-36C1-4573-A983-9C267939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玩家通过一组可观察用例完成从创建角色到查看结局的全过程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1C467-388B-44C5-BA57-E7BC4BB0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34700-F0E2-4F07-AF15-F77BB064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08FFA-BBD4-48FB-BC6A-34E2322C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09875"/>
            <a:ext cx="1238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93B33"/>
          </a:solidFill>
          <a:ln xmlns:a="http://schemas.openxmlformats.org/drawingml/2006/main" w="9525">
            <a:solidFill>
              <a:srgbClr val="193B3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玩家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0A6A1-C376-466A-BCDC-FB7D4243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381125"/>
            <a:ext cx="9191625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14288">
            <a:solidFill>
              <a:srgbClr val="9ECB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5499F-DCE6-47EB-8BE8-32952115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04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《铃响之前》系统边界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303B0-D452-415E-9181-B2556B20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47875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开始新游戏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5D898-5984-4A72-B6B2-AB8B3A3C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47875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继续游戏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33962-A03E-4D5C-8A97-A3EDA105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选择时段行动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F79FE-6453-4F14-BF32-0E4AFB01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查看状态与地图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1E27A-E5E7-4253-82F9-F83C6DF9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触发事件并选择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B953A6-E3F8-44DC-A08D-FEB44571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与NPC交谈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49D15-2939-4847-AFA5-0DB4CC85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参加每周周测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BF82E-D473-4A7F-9E47-89A4A32E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保存并退出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58766-C4A0-42CA-A73F-7154CA38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57750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参加最终高考并查看结局</a:t>
            </a:r>
          </a:p>
        </p:txBody>
      </p: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1666875" y="2324100"/>
            <a:ext cx="904875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ECBBC"/>
            </a:solidFill>
            <a:prstDash val="solid"/>
            <a:head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1666875" y="2324100"/>
            <a:ext cx="3000375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ECBBC"/>
            </a:solidFill>
            <a:prstDash val="solid"/>
            <a:head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1666875" y="2324100"/>
            <a:ext cx="5095875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ECBBC"/>
            </a:solidFill>
            <a:prstDash val="solid"/>
            <a:head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1666875" y="2324100"/>
            <a:ext cx="7191375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ECBBC"/>
            </a:solidFill>
            <a:prstDash val="solid"/>
            <a:head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1666875" y="3143250"/>
            <a:ext cx="904875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ECBBC"/>
            </a:solidFill>
            <a:prstDash val="solid"/>
            <a:head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6" idx="3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1666875" y="3143250"/>
            <a:ext cx="3000375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ECBBC"/>
            </a:solidFill>
            <a:prstDash val="solid"/>
            <a:head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1666875" y="3143250"/>
            <a:ext cx="5095875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E99343"/>
            </a:solidFill>
            <a:prstDash val="solid"/>
            <a:head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6" idx="3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1666875" y="3143250"/>
            <a:ext cx="7191375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E99343"/>
            </a:solidFill>
            <a:prstDash val="solid"/>
            <a:head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6" idx="3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1666875" y="3143250"/>
            <a:ext cx="4000500" cy="19907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E99343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01857F-EB6A-4587-B41F-0260558A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943600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系统自动执行：推进时间、计算属性、触发周测和事件、自动保存进度</a:t>
            </a:r>
          </a:p>
        </p:txBody>
      </p:sp>
    </p:spTree>
    <p:extLst>
      <p:ext uri="{BB962C8B-B14F-4D97-AF65-F5344CB8AC3E}">
        <p14:creationId xmlns:p14="http://schemas.microsoft.com/office/powerpoint/2010/main" val="15861061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E553A-B6EB-43D0-8E08-F60746A3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3A7B8-6EF6-4202-A0B8-BBA6A6EB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31199-5DE2-464F-B9F3-8A7883D0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GameManager统一调度，各模块通过公开接口协作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1D86E-926E-411E-B5A0-08FDD5E4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7874C-ECC7-443E-A00D-D27FC181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CBB98-6720-4EC9-863F-6F918B41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571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93B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73367-9906-40A6-806B-A519D1B4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504950"/>
            <a:ext cx="87153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93B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ConsoleUI    CommandParser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52F7D-463C-4662-993B-134533BF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571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调度层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23655-3CE0-431E-B879-B76064F8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81250"/>
            <a:ext cx="87153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GameManager    TimeManager    GameProgress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88C4A-8AAA-490C-9DEA-8D654C38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571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DEB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8F87A-9A34-4D56-A374-C7144C89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57550"/>
            <a:ext cx="87153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DEB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Action    EventManager    Exam    Ending    SaveManager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2AE83-6E96-44A7-A5C6-6816A814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571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领域对象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B8BF6-7677-492C-9C74-C096E135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33850"/>
            <a:ext cx="87153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Player    Stats    Inventory    Item    CampusMap    NPC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7D1DC-9FCD-405D-A478-DAFCFE74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571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E6D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基础设施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6800B-F13B-4D8B-A099-8B28BFF1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010150"/>
            <a:ext cx="87153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E6D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C++17    STL    文件流    Windows控制台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B7300-137E-4020-B4FE-3D59D6E1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293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调用方向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C58C9-BC81-4FED-9F08-752F6BC2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输入进入调度层，调度层调用业务模块，业务模块修改领域对象；SaveManager统一负责文件读写。</a:t>
            </a:r>
          </a:p>
        </p:txBody>
      </p:sp>
    </p:spTree>
    <p:extLst>
      <p:ext uri="{BB962C8B-B14F-4D97-AF65-F5344CB8AC3E}">
        <p14:creationId xmlns:p14="http://schemas.microsoft.com/office/powerpoint/2010/main" val="8617548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2DE63F-18D6-4F8D-B35D-1D77D2BA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1A7E6-5CD8-48E2-96C1-9A2D03CF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UML 类图：核心调度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4E25F-76E7-4372-A9CD-C77363E8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类图保留关键成员和公开操作，重点说明职责与依赖关系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71D78-03DF-40C7-B97B-972444C4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7C41B-8856-4764-881C-C4568F45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C8465-0DA2-432B-888D-7EF19EED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381125"/>
            <a:ext cx="31432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3F4FC-9314-4893-A093-FCA774D3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381125"/>
            <a:ext cx="3143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79847-06C7-4EA2-963B-03FF4BB7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400175"/>
            <a:ext cx="3028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GameManager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76A0F-E698-4B2C-81D1-84B4E2F5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90700"/>
            <a:ext cx="2914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player: unique_ptr&lt;Player&gt;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timeManager: TimeManager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progress: GameProgress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eventManager: EventManager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startGame()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run()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processCurrentDay()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8A4CE-5AE4-4A01-9464-F7A4F74D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2809875" cy="1685925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31C4D-270D-469D-805B-433DE7DA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28098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6CD4F-63DF-4513-A056-A1A4A78F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2695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TimeManager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D6C9C-EC0A-46B0-BB4D-D0044608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25812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totalDays: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elapsedDays: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advanceDay(): bool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getCurrentDay():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getCurrentDayType(): DayType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A4073-E515-4642-BF57-BF2C05B3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2809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D3CE5-53E5-43C2-8CC6-50737344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28098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CC663-6753-49ED-A50E-30D23B79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2695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GameProgress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65942-9585-4510-92B0-22EBDDF1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00575"/>
            <a:ext cx="25812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stage: Stage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period: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location: string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lastWeeklyScore: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pendingChoices: vector&lt;int&gt;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B04637-22AD-4D87-964D-1B294DE2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81125"/>
            <a:ext cx="2952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53E2F-3071-4AC6-A7A9-F6C0D47E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81125"/>
            <a:ext cx="2952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ECFB71-61A0-4EEA-BA3A-13933162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00175"/>
            <a:ext cx="2838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D9F7A-F804-45F6-A17C-1B0DB6A2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9070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currentTime: ActionTime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world: CampusMap*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executeDailyAction(Player&amp;)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setWorld(CampusMap*)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F6437A-B3DC-4AE0-A7FF-B0786052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86125"/>
            <a:ext cx="2952750" cy="1743075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FC377-D677-4597-8093-26AE099F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86125"/>
            <a:ext cx="2952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3E07B1-A97B-4D25-ADDE-EA3A2218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05175"/>
            <a:ext cx="2838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EventManager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3FA8A2-60EE-4AB9-B9B6-77634470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95700"/>
            <a:ext cx="27241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events: vector&lt;Event&gt;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triggeredEvents: set&lt;string&gt;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eventChoices: map&lt;string,int&gt;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triggerEvent(Player&amp;, int)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triggerStory(Player&amp;, int, int)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F98A82-9631-4723-8511-D17A74D9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19625"/>
            <a:ext cx="2476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80C9E4-C5A5-4532-B142-6219D7FF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19625"/>
            <a:ext cx="2476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15B738-B058-4C54-9147-307C3597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3867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SaveManager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9F322A-A428-4CF4-BF5D-60F32CA7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247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saveFile: string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saveGame(...)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loadGame(...)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hasSave(): bool</a:t>
            </a:r>
          </a:p>
        </p:txBody>
      </p:sp>
      <p:cxnSp>
        <p:nvCxnSpPr>
          <p:cNvPr id="66" name=""/>
          <p:cNvCxnSpPr>
            <a:stCxn xmlns:a="http://schemas.openxmlformats.org/drawingml/2006/main" id="6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286125" y="2419350"/>
            <a:ext cx="857250" cy="428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6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3286125" y="2419350"/>
            <a:ext cx="857250" cy="25574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286625" y="2095500"/>
            <a:ext cx="1095375" cy="323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286625" y="2419350"/>
            <a:ext cx="1095375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6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5715000" y="3457575"/>
            <a:ext cx="95250" cy="1162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99343"/>
            </a:solidFill>
            <a:prstDash val="solid"/>
            <a:head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299D30-AD43-450D-A3C0-69824697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809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组合/持有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4C84C5-13C3-4122-A64E-44C86CCB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812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</p:spTree>
    <p:extLst>
      <p:ext uri="{BB962C8B-B14F-4D97-AF65-F5344CB8AC3E}">
        <p14:creationId xmlns:p14="http://schemas.microsoft.com/office/powerpoint/2010/main" val="14375727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28C139-6C2C-4E6D-8289-C9C71757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1D7FF-E367-4988-A15F-E57B6664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UML 类图：玩家、事件与校园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B652C-87A9-4C86-9E21-49CD4029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领域对象保存游戏状态，管理类负责集合与规则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B09A6-9CC2-4848-ACA4-EE049E54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E7EF5-F417-4B3E-BCDA-DEBAFA4B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D3B00-A507-4E95-9BC8-8806746B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F817E-9866-4A70-87EA-5F89DD2C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667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EF580-C87C-4435-9AB0-925DE623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43050"/>
            <a:ext cx="255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FEFF9-20EF-42F3-AC16-585E11E5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33575"/>
            <a:ext cx="2438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name_: string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money_: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stats_: unique_ptr&lt;Stats&gt;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inventory_: unique_ptr&lt;Inventory&gt;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getStats(): Stats&amp;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changeMoney(int)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C186C-6A82-4AD3-9B0B-D1591741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3336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625BD-C676-4DBD-A3FD-E4AF381C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3336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61E78-8829-4005-B91A-19FA4C9C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2219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121E3-3A96-495A-B8C0-19723C16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2105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- 9项属性: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modify(StatType,int)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set(StatType,int)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get(StatType): 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B2298-62E7-49D4-A2CE-BA9BA8AD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3C4AE-F94A-46EF-A9AD-79BBD64E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2857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6EF5A-2326-4EB7-88AE-CEEB87FA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590675"/>
            <a:ext cx="2743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Inventory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BC39E-FE02-4117-B4D8-0FC06BE2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81200"/>
            <a:ext cx="2628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items_: vector&lt;unique_ptr&lt;Item&gt;&gt;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addItem(...)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removeItem(string)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hasItem(string): bool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F71E1-975A-4337-86CA-B9A7909F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2476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0D33E-22F2-495B-B2C9-721EA8D4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2476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821477-09C6-45F3-B0CA-2A30C18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210050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222AF-74C8-4D3D-970F-305EF510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00575"/>
            <a:ext cx="2247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id_: string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price_: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effects_: vector&lt;pair&lt;...&gt;&gt;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use(Player&amp;)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CBF8D-617A-42BF-B0E1-4293EBC5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2667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99147-5650-4802-8A25-16B86781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2667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629FD-1106-4EA5-9248-AD1F4C9D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00175"/>
            <a:ext cx="255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CampusMap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5CC076-1533-4390-A0D5-BC76003E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90700"/>
            <a:ext cx="243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rooms: map&lt;string,Room&gt;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current: string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move(direction)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routeTo(destination)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451780-BFB6-4385-9513-33828861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52875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1BB53C-F9DF-4E65-9FD5-EBD4B427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52875"/>
            <a:ext cx="2667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89DD2C-A36A-4AC7-8D2F-A65F62C7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71925"/>
            <a:ext cx="255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NPC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51DDA4-3983-49E7-8C03-855FDAE6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62450"/>
            <a:ext cx="243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id/name/room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period: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isPresent(...)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talk(Player&amp;,EventManager&amp;,bool)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A0A4B0-29FC-48B0-B064-61E39BF0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356DFB-2327-4601-B46F-C15DD2C7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C9BBEC-6D5D-404D-9D47-1456A0D5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5767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C13476-B46A-4488-A18F-B7984BA7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4820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id/title/description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choices: vector&lt;string&gt;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canTrigger(Player&amp;)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applyChoice(Player&amp;,int)</a:t>
            </a:r>
          </a:p>
        </p:txBody>
      </p:sp>
      <p:cxnSp>
        <p:nvCxnSpPr>
          <p:cNvPr id="75" name="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1457325" y="3333750"/>
            <a:ext cx="400050" cy="9525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6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3190875" y="2262188"/>
            <a:ext cx="523875" cy="166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1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5143500" y="29527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22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763000" y="2762250"/>
            <a:ext cx="1428750" cy="1190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dash"/>
            <a:head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26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3190875" y="2428875"/>
            <a:ext cx="5667375" cy="2238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99343"/>
            </a:solidFill>
            <a:prstDash val="dash"/>
            <a:head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3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3190875" y="2428875"/>
            <a:ext cx="3286125" cy="2524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99343"/>
            </a:solidFill>
            <a:prstDash val="dash"/>
            <a:head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BCC997-F0EB-4716-B7AF-B7813990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766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组合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2D06CD-6719-4E57-B321-4FD5C3F9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9055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使用</a:t>
            </a:r>
          </a:p>
        </p:txBody>
      </p:sp>
    </p:spTree>
    <p:extLst>
      <p:ext uri="{BB962C8B-B14F-4D97-AF65-F5344CB8AC3E}">
        <p14:creationId xmlns:p14="http://schemas.microsoft.com/office/powerpoint/2010/main" val="634762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87FDA8-3339-47F3-BDB6-FB1AA80D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F1A3C-D059-48C2-9FBA-D6BC5030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核心算法流程：35天状态机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66FA9-76BE-412A-B7CE-24A0E077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循环每次推进一个可保存阶段，只有FinishDay真正增加天数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5E6B8-B73F-4A32-A965-B0D4FD03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4FC01-2C40-4DCC-99A7-85AD414D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1162E-C3C6-4109-8DFD-ADAD1D6E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7145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93B33"/>
          </a:solidFill>
          <a:ln xmlns:a="http://schemas.openxmlformats.org/drawingml/2006/main" w="9525">
            <a:solidFill>
              <a:srgbClr val="193B3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DayStart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显示日期与旁白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59A6C-D7D3-42AB-A247-C7818090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24000"/>
            <a:ext cx="1619250" cy="857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当天类型？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444AF-49CB-4CF2-A06A-553C185B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28750"/>
            <a:ext cx="1809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Routine / Action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四时段行动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D4FE5-442B-4D8C-8864-60B005C8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1809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Story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检查连续剧情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FDE13-37AC-46C4-9CB0-440E1574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428750"/>
            <a:ext cx="1619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DailyEvent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随机事件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BA02E-A85A-48F7-8394-20647B81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76625"/>
            <a:ext cx="1809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9934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SpecialDay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星期六周测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0C8ED-1615-4CEC-A6DF-A0734838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1809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SpecialDay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星期日休息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768AD-643B-4F56-B703-416A2392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2190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93B33"/>
          </a:solidFill>
          <a:ln xmlns:a="http://schemas.openxmlformats.org/drawingml/2006/main" w="9525">
            <a:solidFill>
              <a:srgbClr val="193B3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FinishDay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状态小结并推进1天</a:t>
            </a:r>
          </a:p>
        </p:txBody>
      </p: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33625" y="1924050"/>
            <a:ext cx="619125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572000" y="1771650"/>
            <a:ext cx="666750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1264D-E910-4835-B903-790EDC87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47825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学习日</a:t>
            </a:r>
          </a:p>
        </p:txBody>
      </p:sp>
      <p:cxnSp>
        <p:nvCxnSpPr>
          <p:cNvPr id="4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48500" y="17716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525000" y="17716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9" idx="2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>
            <a:off x="6143625" y="2114550"/>
            <a:ext cx="247650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9ECBBC"/>
            </a:solidFill>
            <a:prstDash val="dash"/>
            <a:head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D2A027-23A3-4119-9146-8DD71A0B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47925"/>
            <a:ext cx="876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还有时段</a:t>
            </a:r>
          </a:p>
        </p:txBody>
      </p:sp>
      <p:cxnSp>
        <p:nvCxnSpPr>
          <p:cNvPr id="50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762375" y="2381250"/>
            <a:ext cx="1190625" cy="1095375"/>
          </a:xfrm>
          <a:prstGeom xmlns:a="http://schemas.openxmlformats.org/drawingml/2006/main" prst="bentConnector4">
            <a:avLst>
              <a:gd name="adj1" fmla="val 0"/>
              <a:gd name="adj2" fmla="val 20870"/>
            </a:avLst>
          </a:prstGeom>
          <a:ln xmlns:a="http://schemas.openxmlformats.org/drawingml/2006/main" w="19050">
            <a:solidFill>
              <a:srgbClr val="E99343"/>
            </a:solidFill>
            <a:prstDash val="solid"/>
            <a:head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762375" y="2381250"/>
            <a:ext cx="3619500" cy="10953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6D4C54-BA33-453E-91EB-F8642A2C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38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rPr>
              <a:t>星期六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663DBB-1E92-488F-877D-1BBA5C9C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289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星期日</a:t>
            </a:r>
          </a:p>
        </p:txBody>
      </p:sp>
      <p:cxnSp>
        <p:nvCxnSpPr>
          <p:cNvPr id="54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9953625" y="2114550"/>
            <a:ext cx="809625" cy="2743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57875" y="3819525"/>
            <a:ext cx="3000375" cy="1409700"/>
          </a:xfrm>
          <a:prstGeom xmlns:a="http://schemas.openxmlformats.org/drawingml/2006/main" prst="bentConnector3">
            <a:avLst>
              <a:gd name="adj1" fmla="val 7619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2" idx="3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8286750" y="2114550"/>
            <a:ext cx="2476500" cy="17049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3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476375" y="2276475"/>
            <a:ext cx="8477250" cy="35528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E99343"/>
            </a:solidFill>
            <a:prstDash val="dash"/>
            <a:head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A4BDE0-F960-4ACF-99A5-E456D7DD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53125"/>
            <a:ext cx="942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自动保存点：每个阶段完成后保存下一阶段，退出后不会重复结算行动或周测。</a:t>
            </a:r>
          </a:p>
        </p:txBody>
      </p:sp>
    </p:spTree>
    <p:extLst>
      <p:ext uri="{BB962C8B-B14F-4D97-AF65-F5344CB8AC3E}">
        <p14:creationId xmlns:p14="http://schemas.microsoft.com/office/powerpoint/2010/main" val="8849434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486D5A-BC01-4AAB-8AD2-D399A4E9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3C048-9F00-48CB-89C1-20657D3D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UML 序列图：保存、退出与继续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0BDD6-5702-48B1-A2EF-1EECDCC2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SaveManager集中读写，GameProgress保证从未完成阶段恢复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66E40-95B2-4300-B01F-9D53592D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41635-0011-4E3F-8368-3E531DEE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776C4-2801-4F9B-BAFC-720C14E9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1285875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9525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玩家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4A6EB-1FF3-4433-A708-3856A947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1285875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9525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CommandParser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98E2E-F328-45AF-B2F5-2D23FE15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28750"/>
            <a:ext cx="1285875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9343"/>
          </a:solidFill>
          <a:ln xmlns:a="http://schemas.openxmlformats.org/drawingml/2006/main" w="9525">
            <a:solidFill>
              <a:srgbClr val="E9934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GameManager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37CDB-00B0-432A-B148-48B4B589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1285875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9525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SaveManager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8BCA4-E254-40A4-8480-5D34051E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428750"/>
            <a:ext cx="1285875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9525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save.txt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E84CC-F3E4-4BC9-8E5E-2D271148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859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ECBBC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3E35A-8937-445C-8EB9-A2F6811C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859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ECBBC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A5B79-3855-4209-890F-A80087E0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8859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ECBBC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1AB10-AE74-4108-ABE1-A028CB22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8859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ECBBC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7EA3F-1870-42B2-B5FC-E738EC4D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18859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ECBBC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BC1BB-8AFC-40EF-9D4A-6D7C8D46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9550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A76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6FA96-BA24-4F85-B7EB-F80A4C4D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857375"/>
            <a:ext cx="1971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输入 quit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C4F56-7148-4633-8E85-8F3B679D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1937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A76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DE614-0830-498B-B11B-F1DFA39E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handleCommand(quit)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46C37-4A42-4A71-8C14-AAA4CCA5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1432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A76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F1C6D-5BDE-45BB-B8A5-7C07C85A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0512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saveGame(player,time,event,progress)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318C8-E3BB-468A-91FE-F031F7CC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66712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A76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780704-DCCD-4C54-B059-287394DF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290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写临时文件并替换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B885B5-06D4-49B4-BC20-7C43AB49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1910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993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DD069A-22EC-4C41-9F5F-E95F2FD2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528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成功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C532F8-8E45-4677-A47D-89278EE4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61962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9934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E24219-53CD-495C-B98B-FC61B007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815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true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B08521-42F0-4B6E-A1C6-37EE19DB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95875"/>
            <a:ext cx="442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9934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1024AB-60A7-4260-A47A-03F2B84D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8577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提示已保存并退出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5D80FB-0BE8-4990-8AEE-B6E215B3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0198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继续游戏时执行相反过程：读取版本标记和各项数据，验证成功后一次性恢复对象状态。</a:t>
            </a:r>
          </a:p>
        </p:txBody>
      </p:sp>
    </p:spTree>
    <p:extLst>
      <p:ext uri="{BB962C8B-B14F-4D97-AF65-F5344CB8AC3E}">
        <p14:creationId xmlns:p14="http://schemas.microsoft.com/office/powerpoint/2010/main" val="150679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C4CF6-E747-493B-ACBE-FBE1641D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936DB-A06F-4FB8-A46C-E13338B4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STL 标准模板库的应用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817C3-CDA8-4890-B153-BCC246D3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容器保存状态，算法负责查找与变换，迭代器统一遍历方式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B85D4-E3CE-4670-B361-DA9A60D5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3E1A6-CD79-4801-BEFE-45D47BDD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1095375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3333750"/>
                <a:gridCol w="3143250"/>
                <a:gridCol w="3000375"/>
              </a:tblGrid>
              <a:tr h="535781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</a:t>
                      </a:r>
                    </a:p>
                  </a:txBody>
                  <a:tcPr marL="76200" marR="76200" marT="47625" marB="47625">
                    <a:solidFill>
                      <a:srgbClr val="193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代码中的用途</a:t>
                      </a:r>
                    </a:p>
                  </a:txBody>
                  <a:tcPr marL="76200" marR="76200" marT="47625" marB="47625">
                    <a:solidFill>
                      <a:srgbClr val="193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典型位置</a:t>
                      </a:r>
                    </a:p>
                  </a:txBody>
                  <a:tcPr marL="76200" marR="76200" marT="47625" marB="47625">
                    <a:solidFill>
                      <a:srgbClr val="193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选择原因</a:t>
                      </a:r>
                    </a:p>
                  </a:txBody>
                  <a:tcPr marL="76200" marR="76200" marT="47625" marB="47625">
                    <a:solidFill>
                      <a:srgbClr val="193B33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vector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物品、事件、NPC、路径、输入记录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Inventory / EventManager / GameProgress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连续存储，便于按顺序遍历</a:t>
                      </a:r>
                    </a:p>
                  </a:txBody>
                  <a:tcPr marL="76200" marR="76200" marT="38100" marB="38100"/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房间索引、出口、事件选择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CampusMap / Room / EventManager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通过键快速查找对象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set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已触发事件、NPC每日交谈记录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EventManager / GameProgress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元素不重复，适合判重</a:t>
                      </a:r>
                    </a:p>
                  </a:txBody>
                  <a:tcPr marL="76200" marR="76200" marT="38100" marB="38100"/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array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4个时段行动、16段固定故事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GameProgress / StoryData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数量固定，语义清楚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queue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地图BFS待访问房间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CampusMap::routeTo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先进先出，按层搜索</a:t>
                      </a:r>
                    </a:p>
                  </a:txBody>
                  <a:tcPr marL="76200" marR="76200" marT="38100" marB="38100"/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find_if、any_of、reverse、clamp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背包、路径、属性与考试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复用标准实现，减少循环代码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迭代器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begin/end、范围for、erase位置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各容器遍历与删除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同一方式操作不同容器</a:t>
                      </a:r>
                    </a:p>
                  </a:txBody>
                  <a:tcPr marL="76200" marR="76200" marT="38100" marB="3810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0F362-5975-40C4-888E-6FBFDEDB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721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智能指针 unique_ptr 配合 vector 管理 Player 和 Item 的生命周期，避免手动 delete。</a:t>
            </a:r>
          </a:p>
        </p:txBody>
      </p:sp>
    </p:spTree>
    <p:extLst>
      <p:ext uri="{BB962C8B-B14F-4D97-AF65-F5344CB8AC3E}">
        <p14:creationId xmlns:p14="http://schemas.microsoft.com/office/powerpoint/2010/main" val="13835066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E9FBFE-8687-4DC3-879B-5EFC2C2F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A2BFE-B1DD-4708-B8BA-5D2A585C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核心算法：地图寻路与考试计算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BBF51-2005-42AE-9817-0106F84A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两个算法分别解决“如何到达”和“学习成果怎样反馈”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2B2CC-808B-41C8-9834-435775E2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549C5-F075-4DEB-A500-F67CA4D1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D6026-9B08-43E2-B0EB-E638DCFF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广度优先搜索 BFS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CF95C-565D-4B72-83C9-2D7915E2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23837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1. 当前地点入队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51208-B4A9-484E-8DB9-3DE337AC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47875"/>
            <a:ext cx="223837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2. 取出队首房间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E1BB7-5AE9-46F6-894F-10EB2BC7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23837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3. 访问未到达的相邻房间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C0657-3AB8-4F6F-8252-49B408AF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48000"/>
            <a:ext cx="223837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4. 记录前驱并继续入队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0389E-F6DC-4944-AFE1-F08554A6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23837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9934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5. 到达目标后反向回溯路径</a:t>
            </a:r>
          </a:p>
        </p:txBody>
      </p: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24175" y="23241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1804988" y="2600325"/>
            <a:ext cx="2619375" cy="447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24175" y="33242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804988" y="3600450"/>
            <a:ext cx="2619375" cy="447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99343"/>
            </a:solidFill>
            <a:prstDash val="solid"/>
            <a:head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1574F-2510-4165-984C-6FCB4637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4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时间复杂度 O(V + E)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2826D-45DB-43CA-86D0-725BCABF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周测与高考分数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F7D8B-65CC-451F-B613-CC4EF4A9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383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得分率 =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0E3A1-6929-4C62-8E82-898F069F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29527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0.77 × 学科能力</a:t>
            </a:r>
          </a:p>
          <a:p xmlns:a="http://schemas.openxmlformats.org/drawingml/2006/main">
            <a:pPr algn="ctr">
              <a:def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+ 0.12 × 智力</a:t>
            </a:r>
          </a:p>
          <a:p xmlns:a="http://schemas.openxmlformats.org/drawingml/2006/main">
            <a:pPr algn="ctr">
              <a:def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+ 0.08 × 健康</a:t>
            </a:r>
          </a:p>
          <a:p xmlns:a="http://schemas.openxmlformats.org/drawingml/2006/main">
            <a:pPr algn="ctr">
              <a:def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+ 0.03 × 体力</a:t>
            </a:r>
          </a:p>
          <a:p xmlns:a="http://schemas.openxmlformats.org/drawingml/2006/main">
            <a:pPr algn="ctr">
              <a:def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− 0.08 × 压力</a:t>
            </a:r>
          </a:p>
          <a:p xmlns:a="http://schemas.openxmlformats.org/drawingml/2006/main">
            <a:pPr algn="ctr">
              <a:def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周测随机波动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39800-789D-456F-8B2A-2F340496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386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rPr>
              <a:t>单科分数 = 得分率 × 单科满分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F4E0B-142E-4E76-901F-85F56E56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012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语文150  数学150  英语150  理综300</a:t>
            </a:r>
          </a:p>
          <a:p xmlns:a="http://schemas.openxmlformats.org/drawingml/2006/main">
            <a:pPr algn="ctr">
              <a:defRPr sz="142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总分750；最终高考不加入随机波动</a:t>
            </a:r>
          </a:p>
        </p:txBody>
      </p:sp>
    </p:spTree>
    <p:extLst>
      <p:ext uri="{BB962C8B-B14F-4D97-AF65-F5344CB8AC3E}">
        <p14:creationId xmlns:p14="http://schemas.microsoft.com/office/powerpoint/2010/main" val="932735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43C7E4-8EDB-4B96-9883-2E3AB8E8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108EB-1CED-41E1-ABD3-7BB8AAF5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设计模式与关键设计选择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1285D-72AC-4E58-8320-61A2526D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只说明当前代码中能够对应和验证的设计，不把计划中的模式当作成果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37A93-387D-480C-AB91-F721B26F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177AC-BDD5-44FD-9D56-05B7F673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C8CB9-B01D-4838-9B98-59737D90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Singleton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A0F06-2657-424B-A49D-51EA6018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2875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GameManager::getInstance()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CBD2F-D5E9-4858-B7BE-B3EFD92B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保证总调度器在程序中只有一个实例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90A87-C120-4B31-9E16-0B750B94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Simple Factory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6BA59-FFF9-425C-A297-58A1DF38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33625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EventFactory::createEvent(id)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25902-C52B-4945-9356-6CE9B048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把事件对象的创建集中到工厂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AE3D0-065A-4C79-9401-8C510771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State Machine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0F947-BDE4-412C-8049-A2E4BCEB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GameProgress::Stage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9AF89-7586-42A8-A90A-87C003EC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把一天拆成可保存、可恢复的阶段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71E83-4866-46AD-A337-5365DADB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C2A00-9659-4775-A0EC-E9926FB9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43375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CommandParser commandHandler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8BEBD-93B7-4DCE-8732-7553763E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输入模块通过函数对象把命令交给GameManager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D7095-3E39-4D87-825A-2F1CDA6A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RAII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764E0-FB29-4ADF-9FE7-3D7B713A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unique_ptr 与 TemporaryFile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4293D-7758-4176-8E8E-0AFE2F62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对象离开作用域时自动释放资源或清理临时文件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F1EA0-05CB-4798-85B6-F978612A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579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D5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D5B4A"/>
                </a:solidFill>
                <a:latin typeface="Microsoft YaHei"/>
                <a:ea typeface="Microsoft YaHei"/>
                <a:cs typeface="Microsoft YaHei"/>
              </a:rPr>
              <a:t>未采用：早期文档计划中的 Observer 没有形成完整实现，因此不作为本项目设计模式成果。</a:t>
            </a:r>
          </a:p>
        </p:txBody>
      </p:sp>
    </p:spTree>
    <p:extLst>
      <p:ext uri="{BB962C8B-B14F-4D97-AF65-F5344CB8AC3E}">
        <p14:creationId xmlns:p14="http://schemas.microsoft.com/office/powerpoint/2010/main" val="3047466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C36E97-792E-48CE-9E90-CA8F97E5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BE2CF-41AE-4EC8-BF37-CF28C0E8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测试与质量保证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0A2D3-30CF-4987-BB7C-91CFD0FE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三层测试覆盖类行为、模块整合和真实可执行程序流程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85A4C-C6FA-4D98-B1B6-9BE415BA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52FE6-5C8D-49B5-984B-E3FF3C10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B4F26-6486-42B8-8A1C-499450A0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29527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CoreRegression</a:t>
            </a:r>
          </a:p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输入、地图、NPC</a:t>
            </a:r>
          </a:p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V1—V4存档与原子替换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18128-CE0E-427C-8996-E896BE61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66875"/>
            <a:ext cx="29527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StoryIntegration</a:t>
            </a:r>
          </a:p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连续故事、行动重放</a:t>
            </a:r>
          </a:p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考试范围与界面对齐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65E9D-17FF-40A0-A9F2-9F388378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66875"/>
            <a:ext cx="29527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9934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runtime_regression.py</a:t>
            </a:r>
          </a:p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驱动实际EXE</a:t>
            </a:r>
          </a:p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完整35天与中途恢复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571875" y="23336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head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72375" y="23336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9343"/>
            </a:solidFill>
            <a:prstDash val="solid"/>
            <a:head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B7FD1-2BA0-44D1-AE5D-2566703F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4B1F4-46CC-4377-8BA3-2A30CC61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43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天完整通关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7974D-45C4-432B-ABFC-A1C90A47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759D0-B006-4E02-9543-08FBBD36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43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次周测出现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C14D2-77C5-42C4-88CD-6D63F309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F57C9-52EA-4BDB-A530-7A11A02C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43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段连续故事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6A87EF-9793-47FF-96AA-0D0EFF94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E74037-B1C0-4F66-9ECC-94BCBF9D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个地点连通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83ADD-8117-4AD1-8D67-3C9E02CA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rPr>
              <a:t>V1—V4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4B3C2-7B8D-4C4D-A35F-E6E156F5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343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存档兼容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CF5D1-6B2D-42B8-A538-123B13E4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215900" indent="-101600" algn="l">
              <a:spcAft>
                <a:spcPts val="500"/>
              </a:spcAft>
              <a:buChar char="•"/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非法输入、输入结束和保存失败不会让游戏空跑或错误跳天</a:t>
            </a:r>
          </a:p>
          <a:p xmlns:a="http://schemas.openxmlformats.org/drawingml/2006/main">
            <a:pPr marL="215900" indent="-101600" algn="l">
              <a:spcAft>
                <a:spcPts val="500"/>
              </a:spcAft>
              <a:buChar char="•"/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读档不会重复扣钱、重复学习、重复周测或重复领取NPC奖励</a:t>
            </a:r>
          </a:p>
          <a:p xmlns:a="http://schemas.openxmlformats.org/drawingml/2006/main">
            <a:pPr marL="215900" indent="-101600" algn="l">
              <a:spcAft>
                <a:spcPts val="500"/>
              </a:spcAft>
              <a:buChar char="•"/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Windows版本静态链接C++运行库，降低其他电脑缺少DLL的风险</a:t>
            </a:r>
          </a:p>
        </p:txBody>
      </p:sp>
    </p:spTree>
    <p:extLst>
      <p:ext uri="{BB962C8B-B14F-4D97-AF65-F5344CB8AC3E}">
        <p14:creationId xmlns:p14="http://schemas.microsoft.com/office/powerpoint/2010/main" val="3027274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C7401-1520-4E21-8EAE-0FDC3169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A5E96-6FC3-4C2B-B4D1-B25E9EBA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程序演示路线与总结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96B03-1473-4B7D-A099-3A294BAF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课堂上用一条短路线展示核心功能，再用预备存档跳到周测和结局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BF0BF-6BC8-406F-B2C5-5AFD9A07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F942F-4B03-45C9-B417-74AD8D01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D9F33-2CB7-4B8C-BEBA-86BB7FD9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286500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088E8-798F-41E0-9E4B-060B6C77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C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0C45C"/>
                </a:solidFill>
                <a:latin typeface="Microsoft YaHei"/>
                <a:ea typeface="Microsoft YaHei"/>
                <a:cs typeface="Microsoft YaHei"/>
              </a:rPr>
              <a:t>《铃响之前》 · 演示命令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93DB5-D422-4B93-9C5F-29682929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55721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1  新游戏</a:t>
            </a:r>
          </a:p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输入姓名</a:t>
            </a:r>
          </a:p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选择晨间行动，观察属性变化</a:t>
            </a:r>
          </a:p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地图</a:t>
            </a:r>
          </a:p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北</a:t>
            </a:r>
          </a:p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人物</a:t>
            </a:r>
          </a:p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交谈 班主任</a:t>
            </a:r>
          </a:p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存档 / 退出</a:t>
            </a:r>
          </a:p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2  继续游戏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14DB5-1984-4087-9618-51A9E144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演示重点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31933-7E1E-4E34-BA29-EF1736C7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714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行动产生明确数值反馈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地点移动后自动显示NPC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周测显示750分成绩与薄弱科目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继续游戏恢复日期、地点和未完成阶段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第35天生成大学去向与叙事结局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EF3E8-84B6-4012-9B30-B323EDC1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863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rPr>
              <a:t>项目结果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51951-B277-4AA6-9A01-912692CB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完成了一个可编译、可游玩、可保存、可测试的C++17文字MUD，并通过模块化设计把核心调度与具体功能分离。</a:t>
            </a:r>
          </a:p>
        </p:txBody>
      </p:sp>
    </p:spTree>
    <p:extLst>
      <p:ext uri="{BB962C8B-B14F-4D97-AF65-F5344CB8AC3E}">
        <p14:creationId xmlns:p14="http://schemas.microsoft.com/office/powerpoint/2010/main" val="916316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2026-09-14T12:54:30.4270000Z</dcterms:created>
  <dcterms:modified xsi:type="dcterms:W3CDTF">2026-09-14T12:54:30.4270000Z</dcterms:modified>
</coreProperties>
</file>