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4c7fce02644038" /><Relationship Type="http://schemas.openxmlformats.org/officeDocument/2006/relationships/extended-properties" Target="/docProps/app.xml" Id="Rb29df28c3fa242cb" /><Relationship Type="http://schemas.openxmlformats.org/officeDocument/2006/relationships/officeDocument" Target="/ppt/presentation.xml" Id="R4b38df6619a844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6144cf03d64e69"/>
  </p:sldMasterIdLst>
  <p:notesMasterIdLst>
    <p:notesMasterId xmlns:r="http://schemas.openxmlformats.org/officeDocument/2006/relationships" r:id="R841b64328bdf4931"/>
  </p:notesMasterIdLst>
  <p:sldIdLst>
    <p:sldId xmlns:r="http://schemas.openxmlformats.org/officeDocument/2006/relationships" id="256" r:id="Ra2e1d94a80c64449"/>
    <p:sldId xmlns:r="http://schemas.openxmlformats.org/officeDocument/2006/relationships" id="257" r:id="Re46596b5c6e5423f"/>
    <p:sldId xmlns:r="http://schemas.openxmlformats.org/officeDocument/2006/relationships" id="258" r:id="Racf906d549c648d7"/>
    <p:sldId xmlns:r="http://schemas.openxmlformats.org/officeDocument/2006/relationships" id="259" r:id="Rc40c04f93d4c43c5"/>
    <p:sldId xmlns:r="http://schemas.openxmlformats.org/officeDocument/2006/relationships" id="260" r:id="R3367dfed912c411d"/>
    <p:sldId xmlns:r="http://schemas.openxmlformats.org/officeDocument/2006/relationships" id="261" r:id="Ra456b1f944274e7e"/>
    <p:sldId xmlns:r="http://schemas.openxmlformats.org/officeDocument/2006/relationships" id="262" r:id="R382ec62455434a96"/>
    <p:sldId xmlns:r="http://schemas.openxmlformats.org/officeDocument/2006/relationships" id="263" r:id="Ra109a835c8314f30"/>
    <p:sldId xmlns:r="http://schemas.openxmlformats.org/officeDocument/2006/relationships" id="264" r:id="R964e0c2de0944c52"/>
    <p:sldId xmlns:r="http://schemas.openxmlformats.org/officeDocument/2006/relationships" id="265" r:id="Rbbd4431bd84a4eea"/>
    <p:sldId xmlns:r="http://schemas.openxmlformats.org/officeDocument/2006/relationships" id="266" r:id="R804fd806b4d644b6"/>
    <p:sldId xmlns:r="http://schemas.openxmlformats.org/officeDocument/2006/relationships" id="267" r:id="R1eb3999657c44288"/>
    <p:sldId xmlns:r="http://schemas.openxmlformats.org/officeDocument/2006/relationships" id="268" r:id="R697dc79124cc489a"/>
    <p:sldId xmlns:r="http://schemas.openxmlformats.org/officeDocument/2006/relationships" id="269" r:id="R75f775bbc6b0434a"/>
    <p:sldId xmlns:r="http://schemas.openxmlformats.org/officeDocument/2006/relationships" id="270" r:id="Rc2efe9ce5baf4d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fe64ac69f9421b" /><Relationship Type="http://schemas.openxmlformats.org/officeDocument/2006/relationships/slideMaster" Target="/ppt/slideMasters/slideMaster1.xml" Id="Reb6144cf03d64e69" /><Relationship Type="http://schemas.openxmlformats.org/officeDocument/2006/relationships/notesMaster" Target="/ppt/notesMasters/notesMaster1.xml" Id="R841b64328bdf4931" /><Relationship Type="http://schemas.openxmlformats.org/officeDocument/2006/relationships/presProps" Target="/ppt/presProps.xml" Id="Rbbabf18dbea347f3" /><Relationship Type="http://schemas.openxmlformats.org/officeDocument/2006/relationships/tableStyles" Target="/ppt/tableStyles.xml" Id="R9e86683b4a9f42da" /><Relationship Type="http://schemas.openxmlformats.org/officeDocument/2006/relationships/slide" Target="/ppt/slides/slide1.xml" Id="Ra2e1d94a80c64449" /><Relationship Type="http://schemas.openxmlformats.org/officeDocument/2006/relationships/slide" Target="/ppt/slides/slide2.xml" Id="Re46596b5c6e5423f" /><Relationship Type="http://schemas.openxmlformats.org/officeDocument/2006/relationships/slide" Target="/ppt/slides/slide3.xml" Id="Racf906d549c648d7" /><Relationship Type="http://schemas.openxmlformats.org/officeDocument/2006/relationships/slide" Target="/ppt/slides/slide4.xml" Id="Rc40c04f93d4c43c5" /><Relationship Type="http://schemas.openxmlformats.org/officeDocument/2006/relationships/slide" Target="/ppt/slides/slide5.xml" Id="R3367dfed912c411d" /><Relationship Type="http://schemas.openxmlformats.org/officeDocument/2006/relationships/slide" Target="/ppt/slides/slide6.xml" Id="Ra456b1f944274e7e" /><Relationship Type="http://schemas.openxmlformats.org/officeDocument/2006/relationships/slide" Target="/ppt/slides/slide7.xml" Id="R382ec62455434a96" /><Relationship Type="http://schemas.openxmlformats.org/officeDocument/2006/relationships/slide" Target="/ppt/slides/slide8.xml" Id="Ra109a835c8314f30" /><Relationship Type="http://schemas.openxmlformats.org/officeDocument/2006/relationships/slide" Target="/ppt/slides/slide9.xml" Id="R964e0c2de0944c52" /><Relationship Type="http://schemas.openxmlformats.org/officeDocument/2006/relationships/slide" Target="/ppt/slides/slide10.xml" Id="Rbbd4431bd84a4eea" /><Relationship Type="http://schemas.openxmlformats.org/officeDocument/2006/relationships/slide" Target="/ppt/slides/slide11.xml" Id="R804fd806b4d644b6" /><Relationship Type="http://schemas.openxmlformats.org/officeDocument/2006/relationships/slide" Target="/ppt/slides/slide12.xml" Id="R1eb3999657c44288" /><Relationship Type="http://schemas.openxmlformats.org/officeDocument/2006/relationships/slide" Target="/ppt/slides/slide13.xml" Id="R697dc79124cc489a" /><Relationship Type="http://schemas.openxmlformats.org/officeDocument/2006/relationships/slide" Target="/ppt/slides/slide14.xml" Id="R75f775bbc6b0434a" /><Relationship Type="http://schemas.openxmlformats.org/officeDocument/2006/relationships/slide" Target="/ppt/slides/slide15.xml" Id="Rc2efe9ce5baf4d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b2ad99a2b948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51d7daceb74031" /><Relationship Type="http://schemas.openxmlformats.org/officeDocument/2006/relationships/notesMaster" Target="/ppt/notesMasters/notesMaster1.xml" Id="Rfc6f74c5074b4d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a44e1705ec4514" /><Relationship Type="http://schemas.openxmlformats.org/officeDocument/2006/relationships/notesMaster" Target="/ppt/notesMasters/notesMaster1.xml" Id="Rb3004218d27c43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b0aa63a62748c8" /><Relationship Type="http://schemas.openxmlformats.org/officeDocument/2006/relationships/notesMaster" Target="/ppt/notesMasters/notesMaster1.xml" Id="R8e78e200a24d42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3fdcef877f40b6" /><Relationship Type="http://schemas.openxmlformats.org/officeDocument/2006/relationships/notesMaster" Target="/ppt/notesMasters/notesMaster1.xml" Id="Rf256fe47e70b41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16dfad4565490f" /><Relationship Type="http://schemas.openxmlformats.org/officeDocument/2006/relationships/notesMaster" Target="/ppt/notesMasters/notesMaster1.xml" Id="R5ded8a1997a04f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c31fea9472454d" /><Relationship Type="http://schemas.openxmlformats.org/officeDocument/2006/relationships/notesMaster" Target="/ppt/notesMasters/notesMaster1.xml" Id="R48fd06322aee4d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d8a330edf548dc" /><Relationship Type="http://schemas.openxmlformats.org/officeDocument/2006/relationships/notesMaster" Target="/ppt/notesMasters/notesMaster1.xml" Id="Refc6bf9b87544c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aff05e75d54aab" /><Relationship Type="http://schemas.openxmlformats.org/officeDocument/2006/relationships/notesMaster" Target="/ppt/notesMasters/notesMaster1.xml" Id="R62bc8bb8b2f64a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c0b921b5734762" /><Relationship Type="http://schemas.openxmlformats.org/officeDocument/2006/relationships/notesMaster" Target="/ppt/notesMasters/notesMaster1.xml" Id="R3aa5006c60d940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0f1f0260564a6d" /><Relationship Type="http://schemas.openxmlformats.org/officeDocument/2006/relationships/notesMaster" Target="/ppt/notesMasters/notesMaster1.xml" Id="R757990c43528484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95fb9f2f60447f" /><Relationship Type="http://schemas.openxmlformats.org/officeDocument/2006/relationships/notesMaster" Target="/ppt/notesMasters/notesMaster1.xml" Id="R0c909fc3c2f94b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6c6c9f71bc4e24" /><Relationship Type="http://schemas.openxmlformats.org/officeDocument/2006/relationships/notesMaster" Target="/ppt/notesMasters/notesMaster1.xml" Id="Rdf659dea63704d3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4f41daae7034797" /><Relationship Type="http://schemas.openxmlformats.org/officeDocument/2006/relationships/notesMaster" Target="/ppt/notesMasters/notesMaster1.xml" Id="R221814aaebdf42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0ba16325394892" /><Relationship Type="http://schemas.openxmlformats.org/officeDocument/2006/relationships/notesMaster" Target="/ppt/notesMasters/notesMaster1.xml" Id="Rc6c864b453ac44e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8ddb03d9694849" /><Relationship Type="http://schemas.openxmlformats.org/officeDocument/2006/relationships/notesMaster" Target="/ppt/notesMasters/notesMaster1.xml" Id="R0fb32b67acfb4e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我们设计了一款以高考前35天为背景的文字MUD游戏《铃响之前》。这次展示从故事和需求出发，再介绍类设计、核心算法、STL应用、测试与程序演示。上台前请填写汇报人和小组信息。来源：当前Summer-MUD项目源码与V1.0需求文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事背景：玩家扮演一名高三学生，在最后35天里安排每天四个时段。游戏不强调战斗，而强调时间分配和状态管理。每周六安排周测，帮助玩家了解自己的复习效果。连续故事涉及同桌、班主任、家人和流浪猫，最终分数与状态共同影响结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介绍可按这条主线讲。程序启动后选择新游戏或继续游戏。普通学习日包含四个时段，第六天开始出现周测。地图与NPC属于晚间扩展，但不改变核心35天调度。SaveManager负责自动保存状态，Ending根据最终成绩和状态给出结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BS从项目交付角度拆解工作。第一阶段确定需求和接口。第二阶段建立核心循环。第三阶段完成独立功能模块。第四阶段做整合与回归测试。最后形成可执行程序、课程设计报告和课堂展示。正式答辩时可以结合本组真实分工补充每位成员的责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图只描述玩家能够完成的目标，不展示类和函数。玩家可以开始或继续游戏，选择行动，查看信息，探索地图和NPC，参加每周周测，保存退出，并最终查看高考成绩与结局。时间推进和分数计算由系统自动完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分层和模块化设计。ConsoleUI与CommandParser处理输出和输入。GameManager处在中间，决定当前执行哪个阶段。Action、EventManager、Exam等负责具体业务。Player和地图对象保存数据。SaveManager是唯一集中处理存档文件的模块，避免把文件读写散落在各个类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类图以GameManager为中心。它持有时间、进度、事件、考试、存档等对象，并使用unique_ptr管理玩家。TimeManager只管理日期。GameProgress记录当天阶段，用于中途恢复。Action不拥有地图，只保存一个非拥有指针。SaveManager通过参数读取各对象数据，不接管它们的生命周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yer组合Stats和Inventory，Inventory再组合多个Item，符合Player、Stats、Inventory、Item的既定关系。CampusMap使用map保存Room，NPC根据地点和时段判断是否出现。Event和NPC通过Player公开接口修改状态，不直接访问Player私有成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循环使用状态机。学习日依次进行四个时段，每个时段结束后检查故事。星期六直接进入周测，星期日执行休息。所有分支最终进入FinishDay，只有这里调用advanceDay。每个阶段完成后自动保存下一阶段，因此读档不会重复扣钱、加属性或重复计算周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家在任意输入位置输入quit。CommandParser把命令交给GameManager。GameManager先同步当前位置、阶段和未完成选项，再调用SaveManager。SaveManager先写临时文件，检查成功后替换save.txt。只有保存成功才退出。继续游戏时先解析并验证到局部变量，全部合法后再恢复玩家和各管理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L部分建议结合源码举例。vector保存顺序集合。map通过字符串ID查房间。set天然去重，适合已触发事件。array用于固定数量的数据。queue支持BFS。find_if和any_of用于物品查找，reverse恢复路径顺序，clamp限制属性范围。范围for和迭代器让遍历方式统一。没有实际使用的sort不列为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FS从当前地点开始按层搜索，用queue维护待访问房间，用map记录每个房间的前驱，到达目标后回溯并reverse得到正向路线。在9个地点的小图中开销很小。考试算法综合学科能力和状态。周测加入小幅随机波动，智力较高时波动缩小。最终高考不加入随机波动，便于稳定复现结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强调诚实对应源码。GameManager使用单例。EventFactory是简单工厂。GameProgress的Stage构成状态机。CommandParser通过std::function注册回调。unique_ptr和临时文件清理体现RAII。早期文档提到Observer，但当前项目没有完整观察者接口，所以答辩中不应声称已经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分三层。CoreRegression验证基础类和边界。StoryIntegration验证多个模块组合。runtime_regression脚本直接运行最终EXE并输入命令，检查完整35天。自动测试验证了5次周测、16段故事和9个地点连通。自动测试不能替代小组互测，报告中还应记录同学实际试玩发现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程序演示建议控制在三分钟。先新建玩家并执行一个行动，然后输入地图和方向命令，到达地点后与NPC交谈。现场完整玩到周测需要太久，所以提前准备一个第5天或第34天的存档，演示继续游戏、周测和结局。结束时总结：本项目把面向对象、STL、文件读写、算法与测试落实到一个完整可运行的程序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bfa4bb3c8c47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395e0f4d3c4931" /><Relationship Type="http://schemas.openxmlformats.org/officeDocument/2006/relationships/slideLayout" Target="/ppt/slideLayouts/slideLayout1.xml" Id="Re008747308124f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008747308124f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66c95578204f9d" /><Relationship Type="http://schemas.openxmlformats.org/officeDocument/2006/relationships/notesSlide" Target="/ppt/notesSlides/notesSlide1.xml" Id="Rcf40528f592d4d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1119860ac409c" /><Relationship Type="http://schemas.openxmlformats.org/officeDocument/2006/relationships/notesSlide" Target="/ppt/notesSlides/notesSlide2.xml" Id="R5949f0aed7774a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260b1989349d8" /><Relationship Type="http://schemas.openxmlformats.org/officeDocument/2006/relationships/notesSlide" Target="/ppt/notesSlides/notesSlide3.xml" Id="Rbb675287f2ad4a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5e15b7f96461e" /><Relationship Type="http://schemas.openxmlformats.org/officeDocument/2006/relationships/notesSlide" Target="/ppt/notesSlides/notesSlide4.xml" Id="Ra64886a66e9c48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544a204e4f4b78" /><Relationship Type="http://schemas.openxmlformats.org/officeDocument/2006/relationships/notesSlide" Target="/ppt/notesSlides/notesSlide5.xml" Id="Ra44682cc40054e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c8eecc5cf4a23" /><Relationship Type="http://schemas.openxmlformats.org/officeDocument/2006/relationships/notesSlide" Target="/ppt/notesSlides/notesSlide6.xml" Id="Rcb442535f07142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481f3a5d8462f" /><Relationship Type="http://schemas.openxmlformats.org/officeDocument/2006/relationships/notesSlide" Target="/ppt/notesSlides/notesSlide7.xml" Id="R49ae7f15bcdd427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66aae4997415c" /><Relationship Type="http://schemas.openxmlformats.org/officeDocument/2006/relationships/notesSlide" Target="/ppt/notesSlides/notesSlide8.xml" Id="Re086e338a3d74b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a443846794c3e" /><Relationship Type="http://schemas.openxmlformats.org/officeDocument/2006/relationships/notesSlide" Target="/ppt/notesSlides/notesSlide9.xml" Id="Rc7eb5537203849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cc939f8224548" /><Relationship Type="http://schemas.openxmlformats.org/officeDocument/2006/relationships/notesSlide" Target="/ppt/notesSlides/notesSlide10.xml" Id="R9313363edfd54e0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6eb93af00473f" /><Relationship Type="http://schemas.openxmlformats.org/officeDocument/2006/relationships/notesSlide" Target="/ppt/notesSlides/notesSlide11.xml" Id="Rf49fb28f0d194c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192b79a1a4e26" /><Relationship Type="http://schemas.openxmlformats.org/officeDocument/2006/relationships/notesSlide" Target="/ppt/notesSlides/notesSlide12.xml" Id="Re08281a51ee84c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0bd64f19540ae" /><Relationship Type="http://schemas.openxmlformats.org/officeDocument/2006/relationships/notesSlide" Target="/ppt/notesSlides/notesSlide13.xml" Id="Reb511c4f88ff42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5d4965c9f44e4" /><Relationship Type="http://schemas.openxmlformats.org/officeDocument/2006/relationships/notesSlide" Target="/ppt/notesSlides/notesSlide14.xml" Id="R19ebde553d714f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fc8a3855749ef" /><Relationship Type="http://schemas.openxmlformats.org/officeDocument/2006/relationships/notesSlide" Target="/ppt/notesSlides/notesSlide15.xml" Id="R980bc8ca62e04e7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FFB49-C3FC-4520-AF3A-933631C6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1DD17-65F5-4F14-8A79-8F06F1513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38250"/>
            <a:ext cx="8096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9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9EC"/>
                </a:solidFill>
                <a:latin typeface="Microsoft YaHei"/>
                <a:ea typeface="Microsoft YaHei"/>
                <a:cs typeface="Microsoft YaHei"/>
              </a:rPr>
              <a:t>铃  响  之  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86033D-5A20-45E8-9E56-968D7B539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rPr>
              <a:t>高考倒计时 35 天的 C++ 文字 MUD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5072CA-BB83-4337-9FCD-F3B808F4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857500"/>
            <a:ext cx="742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849923-FFC5-45D8-92E8-31526FCC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课程设计课堂展示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243A5-87A7-4812-A33E-9B4E405B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723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rPr>
              <a:t>故事背景  系统设计  核心算法  STL  程序演示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FEAE9-332A-4F07-985D-F0BE0384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066800"/>
            <a:ext cx="219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7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7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9846D6-D476-493C-BD2B-DBAF503C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rPr>
              <a:t>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A8226-B0D5-4685-983C-9FED570D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9055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7EF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E7EFEA"/>
                </a:solidFill>
                <a:latin typeface="Microsoft YaHei"/>
                <a:ea typeface="Microsoft YaHei"/>
                <a:cs typeface="Microsoft YaHei"/>
              </a:rPr>
              <a:t>汇报人：________    小组：________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FEED1-A078-4E5A-8213-F920A7AF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626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rPr>
              <a:t>C++17</a:t>
            </a:r>
          </a:p>
        </p:txBody>
      </p:sp>
    </p:spTree>
    <p:extLst>
      <p:ext uri="{BB962C8B-B14F-4D97-AF65-F5344CB8AC3E}">
        <p14:creationId xmlns:p14="http://schemas.microsoft.com/office/powerpoint/2010/main" val="14088251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C6D679-CD4B-4689-A606-CE2141238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7BCF03-FD42-4301-BCAE-26DD57C2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故事背景与设计目标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56D9-BFB3-483B-B5BA-D487FC0C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把35天复习生活压缩成可选择、可反馈、可回顾的一段校园故事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0C8F4-25AF-4D89-9980-1D29F141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0B2F1-FCC9-4304-BB30-BB958709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4EBB8-F91B-4189-BA0B-10E2AC04D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黑板上的倒计时从 35 开始。玩家要在学习、休息、社交和娱乐之间分配时间，并在每周六通过周测观察变化。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7C3C1F-7C08-483B-BF03-BBD6F710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晨间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1863AF-258D-4475-97E2-FC6B6651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38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晨读、早餐、梳理弱科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77253-E40C-4E42-9904-8819369C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7146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午间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8195F7-F66E-41B5-8369-E2098FD5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19450"/>
            <a:ext cx="138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吃饭、午休、同学交流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EEFB20-031B-438E-AF79-258ECC92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7146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561A4-DFE2-4168-B058-1EE37158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219450"/>
            <a:ext cx="138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课堂学习、专项练习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46867-862C-40A4-9B71-502FAC84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714625"/>
            <a:ext cx="13811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晚间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8AD63C-10BD-478D-B3F9-48150A40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19450"/>
            <a:ext cx="1381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地图探索、购物、休息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B6CD96-A89E-4842-A3C0-09EE6CF1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95425"/>
            <a:ext cx="3286125" cy="3905250"/>
          </a:xfrm>
          <a:prstGeom xmlns:a="http://schemas.openxmlformats.org/drawingml/2006/main" prst="roundRect">
            <a:avLst>
              <a:gd name="adj" fmla="val 4638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14288">
            <a:solidFill>
              <a:srgbClr val="193B3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D68C41-A76D-444C-8622-C6E441AE8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09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9ECBBC"/>
                </a:solidFill>
                <a:latin typeface="Microsoft YaHei"/>
                <a:ea typeface="Microsoft YaHei"/>
                <a:cs typeface="Microsoft YaHei"/>
              </a:rPr>
              <a:t>倒计时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BC191-971C-41E5-BFF0-B51A83CB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43125"/>
            <a:ext cx="2619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0C804-3079-42B9-B05B-DE6D579C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48050"/>
            <a:ext cx="252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9E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9EC"/>
                </a:solidFill>
                <a:latin typeface="Microsoft YaHei"/>
                <a:ea typeface="Microsoft YaHei"/>
                <a:cs typeface="Microsoft YaHei"/>
              </a:rPr>
              <a:t>5 次周测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E3525C-8C1B-4A7E-95D9-898BA41E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19550"/>
            <a:ext cx="2524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 段连续故事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个校园地点</a:t>
            </a:r>
          </a:p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多种考试与人生结局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55EE9-8A27-4016-92B4-B5478593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657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核心体验：选择行动，观察数值变化，根据周测调整策略，完成35天后获得最终成绩与结局。</a:t>
            </a:r>
          </a:p>
        </p:txBody>
      </p:sp>
    </p:spTree>
    <p:extLst>
      <p:ext uri="{BB962C8B-B14F-4D97-AF65-F5344CB8AC3E}">
        <p14:creationId xmlns:p14="http://schemas.microsoft.com/office/powerpoint/2010/main" val="1664402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F8428E-0C7B-417D-9ABC-5F1E3839B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34E8F-1149-41D7-8033-CBA5037A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功能需求与游戏主线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57B3F-AAFD-4AFC-B776-75E8335E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课堂演示聚焦能够直接观察和验证的功能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D18F2-D9DF-4C92-B408-FB307D6C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81875-928E-4A48-BE2A-3151E840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409EE-C13D-4C6F-A422-7A739BCF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新游戏 / 读档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创建玩家或恢复V4存档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E12109-823D-44EA-9352-1869D8A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每日行动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上午、中午、下午、晚间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09BF02-11C3-4367-93C1-D42FA806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故事与地图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事件选择、NPC对话、地点移动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94A46-7DAC-460E-933F-D147C3CE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周测反馈</a:t>
            </a:r>
          </a:p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第6、13、20、27、34天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43C37E-6053-4945-93EA-C4F6A63AF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952625"/>
            <a:ext cx="1809750" cy="102870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高考与结局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750分制、大学去向、成长回忆</a:t>
            </a:r>
          </a:p>
        </p:txBody>
      </p:sp>
      <p:cxnSp>
        <p:nvCxnSpPr>
          <p:cNvPr id="2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24669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8675" y="24669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43725" y="24669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248775" y="24669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86EC0-5F63-4D00-9C9B-2E2A4A74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7145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玩家可见功能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85C89-DF15-4AC9-8710-2ACB4891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48125"/>
            <a:ext cx="4953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菜单数字选择，同时支持中文和英文命令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进入地点自动提示NPC，交谈不消耗行动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行动后立即显示属性变化，每日显示简短状态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自动存档，可从未完成阶段继续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6A234-98CD-49BE-B166-92911CD8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19500"/>
            <a:ext cx="17145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系统约束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E926C-B000-40C3-AA24-59731537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47625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游戏固定35天，星期六周测，星期日休息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属性范围0到100，考试按750分制换算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随机事件每次最多触发一个，已触发事件不重复</a:t>
            </a:r>
          </a:p>
          <a:p xmlns:a="http://schemas.openxmlformats.org/drawingml/2006/main">
            <a:pPr marL="215900" indent="-101600" algn="l">
              <a:spcAft>
                <a:spcPts val="7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损坏或版本不匹配的存档拒绝读取</a:t>
            </a:r>
          </a:p>
        </p:txBody>
      </p:sp>
    </p:spTree>
    <p:extLst>
      <p:ext uri="{BB962C8B-B14F-4D97-AF65-F5344CB8AC3E}">
        <p14:creationId xmlns:p14="http://schemas.microsoft.com/office/powerpoint/2010/main" val="2104808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04EC1B-35FC-4A92-90EA-890C4638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BA306-D4A4-4B86-83DE-04FB003E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WBS 工作分解结构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75787-07FF-415A-8893-7CDBFF41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需求分析把项目拆成5个可交付阶段，每个阶段都有明确产物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03E29-0AB9-4412-8572-955B2E44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5F926-912A-4978-B257-7B90889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7883D-DE23-4A5E-BAC1-6C368275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352550"/>
            <a:ext cx="2952750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9525">
            <a:solidFill>
              <a:srgbClr val="193B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《铃响之前》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课程设计项目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75215-1588-43C1-BF8A-F681F8B9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需求与设计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CC9FE-A3BD-4FE7-B342-90DE9D17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故事规则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用例与WBS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类与接口</a:t>
            </a:r>
          </a:p>
        </p:txBody>
      </p:sp>
      <p:cxnSp>
        <p:nvCxnSpPr>
          <p:cNvPr id="36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1362075" y="1962150"/>
            <a:ext cx="47339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620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22CEB-FC76-4C18-A06B-CA8D9A53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核心框架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15C5C-C654-4BDD-A300-07104549D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35天调度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玩家属性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命令输入</a:t>
            </a:r>
          </a:p>
        </p:txBody>
      </p:sp>
      <p:cxnSp>
        <p:nvCxnSpPr>
          <p:cNvPr id="40" name=""/>
          <p:cNvCxnSpPr>
            <a:stCxn xmlns:a="http://schemas.openxmlformats.org/drawingml/2006/main" id="6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3724275" y="1962150"/>
            <a:ext cx="23717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7242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76406-621D-4DE9-A341-27C847AA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内容模块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E900D0-D945-49F0-8900-A71139212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行动事件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地图NPC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考试结局</a:t>
            </a:r>
          </a:p>
        </p:txBody>
      </p:sp>
      <p:cxnSp>
        <p:nvCxnSpPr>
          <p:cNvPr id="44" name=""/>
          <p:cNvCxnSpPr>
            <a:stCxn xmlns:a="http://schemas.openxmlformats.org/drawingml/2006/main" id="6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86475" y="1962150"/>
            <a:ext cx="952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45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60864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CF929-810D-4E2D-9D29-D1E95D28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整合测试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66651-B3ED-4689-BBA3-04A8424D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存档恢复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模块联调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缺陷修复</a:t>
            </a:r>
          </a:p>
        </p:txBody>
      </p:sp>
      <p:cxnSp>
        <p:nvCxnSpPr>
          <p:cNvPr id="48" name=""/>
          <p:cNvCxnSpPr>
            <a:stCxn xmlns:a="http://schemas.openxmlformats.org/drawingml/2006/main" id="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6096000" y="1962150"/>
            <a:ext cx="235267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84486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0E85C9-5091-4E08-AFA9-C43B4D36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62250"/>
            <a:ext cx="20002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交付展示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5CC98B-30DA-43CB-BA8F-ED91195E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24250"/>
            <a:ext cx="2000250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发布程序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设计报告</a:t>
            </a:r>
          </a:p>
          <a:p xmlns:a="http://schemas.openxmlformats.org/drawingml/2006/main">
            <a:pPr algn="ctr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课堂演示</a:t>
            </a:r>
          </a:p>
        </p:txBody>
      </p:sp>
      <p:cxnSp>
        <p:nvCxnSpPr>
          <p:cNvPr id="52" name=""/>
          <p:cNvCxnSpPr>
            <a:stCxn xmlns:a="http://schemas.openxmlformats.org/drawingml/2006/main" id="6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6096000" y="1962150"/>
            <a:ext cx="4714875" cy="8001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0810875" y="3276600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02CF66-AA6E-41B2-97F0-699D9F1A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WBS用于回答“项目需要完成哪些工作”，后续类图和流程图再回答“程序怎样实现”。</a:t>
            </a:r>
          </a:p>
        </p:txBody>
      </p:sp>
    </p:spTree>
    <p:extLst>
      <p:ext uri="{BB962C8B-B14F-4D97-AF65-F5344CB8AC3E}">
        <p14:creationId xmlns:p14="http://schemas.microsoft.com/office/powerpoint/2010/main" val="17492748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DBDBB4-A24C-4921-A868-D49CB6D0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71E5B-B892-4950-A8D9-135E2D11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Use-Case 用例图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A42A8-19C3-44F6-916D-959C4C17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玩家通过一组可观察用例完成从创建角色到查看结局的全过程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59476B-130E-47ED-8897-E1F65930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7EDD2-A00D-4A56-824E-432A38D3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268E3-3EDD-450B-8050-5A08B742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09875"/>
            <a:ext cx="123825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9525">
            <a:solidFill>
              <a:srgbClr val="193B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A65FE-7D63-4C82-8BAF-A048BFE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381125"/>
            <a:ext cx="9191625" cy="438150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14288">
            <a:solidFill>
              <a:srgbClr val="9ECB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3898A-CC0A-4E54-9B86-7D0C370E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04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《铃响之前》系统边界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16AEA6-7CC8-45CB-A6DB-0A2F5722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开始新游戏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49409-FADF-4568-8CF9-AC81FF3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4787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继续游戏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6652A-B033-456F-B36D-ABC68297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选择时段行动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CF25C-AEA7-4022-BE52-29BF8CC3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查看状态与地图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C634C1-1BDD-4390-B7BA-22A13C55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触发事件并选择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C5CCF-B074-4CAD-A1A6-C5E8E341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与NPC交谈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B1B6E-5D2C-4F25-B59C-D0B56E39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参加每周周测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B46B4A-2E7D-4A2F-A2B6-4FA8BBC5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保存并退出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EA813-50F2-48FA-90FE-F18035FA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857750"/>
            <a:ext cx="171450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参加最终高考并查看结局</a:t>
            </a:r>
          </a:p>
        </p:txBody>
      </p:sp>
      <p:cxnSp>
        <p:nvCxnSpPr>
          <p:cNvPr id="45" name=""/>
          <p:cNvCxnSpPr>
            <a:stCxn xmlns:a="http://schemas.openxmlformats.org/drawingml/2006/main" id="6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1666875" y="2324100"/>
            <a:ext cx="904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1666875" y="2324100"/>
            <a:ext cx="30003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6" idx="3"/>
            <a:endCxn xmlns:a="http://schemas.openxmlformats.org/drawingml/2006/main" id="11" idx="2"/>
          </p:cNvCxnSpPr>
          <p:nvPr/>
        </p:nvCxnSpPr>
        <p:spPr>
          <a:xfrm xmlns:a="http://schemas.openxmlformats.org/drawingml/2006/main" flipV="1">
            <a:off x="1666875" y="2324100"/>
            <a:ext cx="50958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1666875" y="2324100"/>
            <a:ext cx="7191375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6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1666875" y="3143250"/>
            <a:ext cx="9048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6" idx="3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1666875" y="3143250"/>
            <a:ext cx="30003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9ECBBC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6" idx="3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1666875" y="3143250"/>
            <a:ext cx="50958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99343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6" idx="3"/>
            <a:endCxn xmlns:a="http://schemas.openxmlformats.org/drawingml/2006/main" id="16" idx="2"/>
          </p:cNvCxnSpPr>
          <p:nvPr/>
        </p:nvCxnSpPr>
        <p:spPr>
          <a:xfrm xmlns:a="http://schemas.openxmlformats.org/drawingml/2006/main">
            <a:off x="1666875" y="3143250"/>
            <a:ext cx="7191375" cy="6096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99343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6" idx="3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1666875" y="3143250"/>
            <a:ext cx="4000500" cy="19907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E99343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572DB9-30B7-455C-A648-29A7A3DF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943600"/>
            <a:ext cx="885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系统自动执行：推进时间、计算属性、触发周测和事件、自动保存进度</a:t>
            </a:r>
          </a:p>
        </p:txBody>
      </p:sp>
    </p:spTree>
    <p:extLst>
      <p:ext uri="{BB962C8B-B14F-4D97-AF65-F5344CB8AC3E}">
        <p14:creationId xmlns:p14="http://schemas.microsoft.com/office/powerpoint/2010/main" val="15557246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D32D13-7F79-4F77-98D0-5D4C39E9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DD3DF-FA7B-4072-AF55-DA4C5413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EC09FE-9682-410F-8FFD-6A1BBC40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GameManager统一调度，各模块通过公开接口协作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79793-5F1E-4E4F-AC7A-244DEA99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9B51F-7C4A-4725-8D97-2D6AB4C7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7AF4DB-0C70-4BBB-91F9-F36CAB66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5A2A4-FFD8-4EA0-8D99-3C6268E9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5049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ConsoleUI    CommandParser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BC91B3-7EA3-4A4E-B06C-933D56FB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C22B8-3D59-4172-B43B-C4C51857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812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GameManager    TimeManager    GameProgress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70AB0-5E5E-4EA1-B3FE-1F7BC7E2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业务层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FB85C-29FB-4B21-8A55-29DBCD39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575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EBE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Action    EventManager    Exam    Ending    SaveManager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C54D57-10D3-491D-A9D2-E8E47C60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领域对象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FE6E30-EDE9-40BC-B811-7ECB5C77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338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Player    Stats    Inventory    Item    CampusMap    NPC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0FAF8-2E36-4BB0-A7B8-D6794A7B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5716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基础设施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CA462-678A-42BE-A9C4-688B9902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010150"/>
            <a:ext cx="87153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EE6D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C++17    STL    文件流    Windows控制台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807B7F-4B0A-4B28-811B-E860729E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829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调用方向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7B5691-8FDF-4196-A52D-E721DEC9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输入进入调度层，调度层调用业务模块，业务模块修改领域对象；SaveManager统一负责文件读写。</a:t>
            </a:r>
          </a:p>
        </p:txBody>
      </p:sp>
    </p:spTree>
    <p:extLst>
      <p:ext uri="{BB962C8B-B14F-4D97-AF65-F5344CB8AC3E}">
        <p14:creationId xmlns:p14="http://schemas.microsoft.com/office/powerpoint/2010/main" val="517398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C482CD-8BA3-4FC9-BED0-785D4728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35022-1F9F-456F-88C6-9823A93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UML 类图：核心调度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C7876-11FA-4994-A74C-348C5C5C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类图保留关键成员和公开操作，重点说明职责与依赖关系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9D7E6-5785-4C0C-9657-9239FE19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899F3-0620-4D4A-A6F8-D0368FDF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6564A-FC79-4D74-B27A-7D8B4FBD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81125"/>
            <a:ext cx="3143250" cy="2076450"/>
          </a:xfrm>
          <a:prstGeom xmlns:a="http://schemas.openxmlformats.org/drawingml/2006/main" prst="roundRect">
            <a:avLst>
              <a:gd name="adj" fmla="val 3670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3908E9-81A6-4C0B-A63E-34475AB6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81125"/>
            <a:ext cx="3143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99187-847F-46E9-84FD-AC463303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400175"/>
            <a:ext cx="3028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GameManager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FFA84-9ACC-4630-8AF8-C7157947D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1790700"/>
            <a:ext cx="29146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player: unique_ptr&lt;Player&gt;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timeManager: TimeManager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progress: GameProgress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eventManager: EventManager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startGame()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run()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processCurrentDay()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4BBCE-035E-4C1C-81E4-457BA75B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2809875" cy="1685925"/>
          </a:xfrm>
          <a:prstGeom xmlns:a="http://schemas.openxmlformats.org/drawingml/2006/main" prst="roundRect">
            <a:avLst>
              <a:gd name="adj" fmla="val 452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5039B-631D-4694-AA21-7F6FF6F1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2809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B94A1-C3BA-48D0-9C80-4B83D7AD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TimeManager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EE38A9-C5FE-44DA-AE2B-296F866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258127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totalDays: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elapsedDays: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advanceDay(): bool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getCurrentDay():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getCurrentDayType(): DayType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6ADEB-B7BF-452B-8DEA-A90BABE3F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2809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56CA3-46EE-4231-BA1B-4513FEE7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280987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458BB-1FE8-4015-86D6-AD2F13D1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2695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GameProgress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AA45B-1A78-494F-AE86-4AB053FB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00575"/>
            <a:ext cx="25812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stage: Stage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period: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location: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lastWeeklyScore: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pendingChoices: vector&lt;int&gt;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6B5C0C-997A-453C-8D63-3007B9ED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2952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9DA9B-4FF0-476E-A6A6-625A952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2952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66135-F9A7-4DC6-9FC9-F6BC9449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00175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826C1-C6C9-4154-97A2-9FDB5B9F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9070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currentTime: ActionTime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world: CampusMap*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executeDailyAction(Player&amp;)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setWorld(CampusMap*)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A2A81C-5E6F-4323-BA29-FCF46678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2952750" cy="1743075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02D924-D6E6-47B1-837E-33D6A033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86125"/>
            <a:ext cx="2952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EF5A1-7687-44B2-AFE3-DCEB0074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305175"/>
            <a:ext cx="2838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EventManager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5FA6C8-0FD4-407A-BC85-BF283E77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95700"/>
            <a:ext cx="27241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events: vector&lt;Event&gt;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triggeredEvents: set&lt;string&gt;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eventChoices: map&lt;string,int&gt;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triggerEvent(Player&amp;, int)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triggerStory(Player&amp;, int, int)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FC8374-9F61-4B0A-824D-5B13285D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73C424-B549-414D-80EF-145045F4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19625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FAC6E0-A8BB-4C34-ABF3-3EDAA0E9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386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SaveManager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ECC2E3-3ED8-4007-93A7-8D0B9F56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247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saveFile: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saveGame(...)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loadGame(...)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hasSave(): bool</a:t>
            </a:r>
          </a:p>
        </p:txBody>
      </p:sp>
      <p:cxnSp>
        <p:nvCxnSpPr>
          <p:cNvPr id="66" name=""/>
          <p:cNvCxnSpPr>
            <a:stCxn xmlns:a="http://schemas.openxmlformats.org/drawingml/2006/main" id="6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286125" y="2419350"/>
            <a:ext cx="857250" cy="428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6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3286125" y="2419350"/>
            <a:ext cx="857250" cy="2557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7286625" y="2095500"/>
            <a:ext cx="1095375" cy="323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69" name=""/>
          <p:cNvCxnSpPr>
            <a:stCxn xmlns:a="http://schemas.openxmlformats.org/drawingml/2006/main" id="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286625" y="2419350"/>
            <a:ext cx="1095375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70" name=""/>
          <p:cNvCxnSpPr>
            <a:stCxn xmlns:a="http://schemas.openxmlformats.org/drawingml/2006/main" id="6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5715000" y="3457575"/>
            <a:ext cx="95250" cy="1162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99343"/>
            </a:solidFill>
            <a:prstDash val="solid"/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F820D4-ED1A-4073-ACFE-D33424EF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05100"/>
            <a:ext cx="809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组合/持有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9DCBB1-AD2E-4E9F-AC5C-FD093AAB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81250"/>
            <a:ext cx="66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调用</a:t>
            </a:r>
          </a:p>
        </p:txBody>
      </p:sp>
    </p:spTree>
    <p:extLst>
      <p:ext uri="{BB962C8B-B14F-4D97-AF65-F5344CB8AC3E}">
        <p14:creationId xmlns:p14="http://schemas.microsoft.com/office/powerpoint/2010/main" val="20704863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763959-179C-4748-AFD9-CD36F201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A9492-4B1F-44FF-8C67-3E9A83F7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UML 类图：玩家、事件与校园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78E2B-B8C2-4B78-ACD9-01E2C5E50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领域对象保存游戏状态，管理类负责集合与规则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A2D0E-75F9-4A11-9865-D384F688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6E496-A67B-4F93-9BD0-DC3FEEA1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93586D-2162-4186-8ADA-F6964207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667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2D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28DA7-3315-4CA3-A4AE-4BB8D1E3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0E6DB-B4C9-4780-A68A-9170495A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43050"/>
            <a:ext cx="255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Player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B4D83-CFAD-4025-858E-C161F3B0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33575"/>
            <a:ext cx="2438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name_: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money_: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stats_: unique_ptr&lt;Stats&gt;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inventory_: unique_ptr&lt;Inventory&gt;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getStats(): Stats&amp;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changeMoney(int)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7C489A-A396-44CA-91AC-6A562C69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333625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E6C222-F073-408A-BCF7-93CBE780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333625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BC9CE-0F28-4182-8505-63A76182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05300"/>
            <a:ext cx="2219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387162-6172-4ACE-9F34-BB689C8CE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21050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- 9项属性: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modify(StatType,int)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set(StatType,int)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get(StatType): 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ACFC4-E726-49EE-971D-6FAECEB5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C67A0-10FC-426A-9E1B-03228F0B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571625"/>
            <a:ext cx="2857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9DEA4E-7324-4E8A-89B0-96FAA74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90675"/>
            <a:ext cx="2743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CB709-7839-4863-BF27-5947F153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81200"/>
            <a:ext cx="2628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items_: vector&lt;unique_ptr&lt;Item&gt;&gt;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addItem(...)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removeItem(string)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hasItem(string): bool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BA98B-07BD-47CB-8789-05E9A027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24765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0003C-1DF0-4C4B-938F-6D95F859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2476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9039C8-541F-4F29-B844-3F348A39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210050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Item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42F9A1-F489-47B0-ABD4-A99F5E7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600575"/>
            <a:ext cx="2247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id_: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price_: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effects_: vector&lt;pair&lt;...&gt;&gt;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use(Player&amp;)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7617B5-D015-45BC-B2C2-7494968B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2667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4A7F28-1459-4F73-BD6B-F30AA027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DA4D94-F736-4567-A9DD-46224EA0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00175"/>
            <a:ext cx="255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CampusMap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16477D-ADA0-4ECB-82A0-F57C1BC4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790700"/>
            <a:ext cx="2438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rooms: map&lt;string,Room&gt;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current: string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move(direction)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routeTo(destination)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789370-F285-4428-9FA7-C90C7C26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D2C7F9-9ADE-429B-8158-ED3F7CBB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52875"/>
            <a:ext cx="2667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777E9-4303-490D-928E-CD4CFAA5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71925"/>
            <a:ext cx="2552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NPC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A0005-809C-4B67-8E67-CECD98C8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362450"/>
            <a:ext cx="243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id/name/room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period: int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isPresent(...)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talk(Player&amp;,EventManager&amp;,bool)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76972-2BBF-49EB-8E5A-1857650E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3F00EA-FB8E-47B4-BD10-CF24CF0D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2095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6D82A-158E-4F0D-AAB8-E34F2067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57675"/>
            <a:ext cx="198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E1DA48-8A26-4B62-BB37-785B403D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4820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id/title/description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- choices: vector&lt;string&gt;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canTrigger(Player&amp;)</a:t>
            </a:r>
          </a:p>
          <a:p xmlns:a="http://schemas.openxmlformats.org/drawingml/2006/main">
            <a:pPr algn="l">
              <a:def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applyChoice(Player&amp;,int)</a:t>
            </a:r>
          </a:p>
        </p:txBody>
      </p:sp>
      <p:cxnSp>
        <p:nvCxnSpPr>
          <p:cNvPr id="75" name=""/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457325" y="3333750"/>
            <a:ext cx="400050" cy="9525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76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3190875" y="2262188"/>
            <a:ext cx="523875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77" name=""/>
          <p:cNvCxnSpPr>
            <a:stCxn xmlns:a="http://schemas.openxmlformats.org/drawingml/2006/main" id="14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143500" y="2952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78" name=""/>
          <p:cNvCxnSpPr>
            <a:stCxn xmlns:a="http://schemas.openxmlformats.org/drawingml/2006/main" id="22" idx="2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8763000" y="2762250"/>
            <a:ext cx="1428750" cy="1190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dash"/>
            <a:tailEnd type="triangle" w="sm" len="sm"/>
          </a:ln>
        </p:spPr>
      </p:cxnSp>
      <p:cxnSp>
        <p:nvCxnSpPr>
          <p:cNvPr id="79" name=""/>
          <p:cNvCxnSpPr>
            <a:stCxn xmlns:a="http://schemas.openxmlformats.org/drawingml/2006/main" id="26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190875" y="2428875"/>
            <a:ext cx="5667375" cy="2238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99343"/>
            </a:solidFill>
            <a:prstDash val="dash"/>
            <a:tailEnd type="triangle" w="sm" len="sm"/>
          </a:ln>
        </p:spPr>
      </p:cxnSp>
      <p:cxnSp>
        <p:nvCxnSpPr>
          <p:cNvPr id="80" name=""/>
          <p:cNvCxnSpPr>
            <a:stCxn xmlns:a="http://schemas.openxmlformats.org/drawingml/2006/main" id="30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 flipV="1">
            <a:off x="3190875" y="2428875"/>
            <a:ext cx="3286125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E99343"/>
            </a:solidFill>
            <a:prstDash val="dash"/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71C9BD-9EE8-4CAF-90F3-78EBB4A1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766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组合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128D19-D9BA-41AB-94CC-421C9F9B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90550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使用</a:t>
            </a:r>
          </a:p>
        </p:txBody>
      </p:sp>
    </p:spTree>
    <p:extLst>
      <p:ext uri="{BB962C8B-B14F-4D97-AF65-F5344CB8AC3E}">
        <p14:creationId xmlns:p14="http://schemas.microsoft.com/office/powerpoint/2010/main" val="13113352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80F7E7-85D4-42A4-ACA8-4EC8FEEC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A18C20-E014-4002-BEBF-BF1D9B7A6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核心算法流程：35天状态机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607061-6F4E-4887-B621-E0931B8E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循环每次推进一个可保存阶段，只有FinishDay真正增加天数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ACCA7-47D1-450C-9000-2FBA57DF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65B36-4189-4C61-96B1-86FA81B1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FF89A-0F64-4F40-BD74-C75A310D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714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9525">
            <a:solidFill>
              <a:srgbClr val="193B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DayStart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显示日期与旁白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F915E-89A7-4CED-A71B-5B49C74D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524000"/>
            <a:ext cx="1619250" cy="857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9EC"/>
          </a:solidFill>
          <a:ln xmlns:a="http://schemas.openxmlformats.org/drawingml/2006/main" w="14288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当天类型？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4A9509-FDE6-489D-BF57-A7A3D88A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428750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Routine / Action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四时段行动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AEDAFE-830A-4022-ADA9-BC70C187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Story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检查连续剧情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BDBF21-C520-4CC1-8BAB-34538647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428750"/>
            <a:ext cx="16192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DailyEvent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随机事件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70668-E9BA-498F-A71D-EA0B58FB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76625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SpecialDay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星期六周测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5B1296-F789-4B9A-865E-82B568386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18097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SpecialDay</a:t>
            </a:r>
          </a:p>
          <a:p xmlns:a="http://schemas.openxmlformats.org/drawingml/2006/main">
            <a:pPr algn="ctr">
              <a:def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星期日休息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35DCA-9F88-4E78-8508-FFCB1F8D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57750"/>
            <a:ext cx="21907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93B33"/>
          </a:solidFill>
          <a:ln xmlns:a="http://schemas.openxmlformats.org/drawingml/2006/main" w="9525">
            <a:solidFill>
              <a:srgbClr val="193B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FinishDay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状态小结并推进1天</a:t>
            </a:r>
          </a:p>
        </p:txBody>
      </p: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333625" y="1924050"/>
            <a:ext cx="61912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572000" y="1771650"/>
            <a:ext cx="666750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3CBB3C-D9D1-4FAE-84BF-555B0C14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47825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学习日</a:t>
            </a:r>
          </a:p>
        </p:txBody>
      </p: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048500" y="17716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525000" y="17716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9" idx="2"/>
            <a:endCxn xmlns:a="http://schemas.openxmlformats.org/drawingml/2006/main" id="8" idx="2"/>
          </p:cNvCxnSpPr>
          <p:nvPr/>
        </p:nvCxnSpPr>
        <p:spPr>
          <a:xfrm xmlns:a="http://schemas.openxmlformats.org/drawingml/2006/main" flipH="1">
            <a:off x="6143625" y="2114550"/>
            <a:ext cx="2476500" cy="2286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9ECBBC"/>
            </a:solidFill>
            <a:prstDash val="dash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F8B26A-5075-43BF-A393-E8EA696D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47925"/>
            <a:ext cx="8763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还有时段</a:t>
            </a:r>
          </a:p>
        </p:txBody>
      </p:sp>
      <p:cxnSp>
        <p:nvCxnSpPr>
          <p:cNvPr id="50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3762375" y="2381250"/>
            <a:ext cx="1190625" cy="1095375"/>
          </a:xfrm>
          <a:prstGeom xmlns:a="http://schemas.openxmlformats.org/drawingml/2006/main" prst="bentConnector4">
            <a:avLst>
              <a:gd name="adj1" fmla="val 0"/>
              <a:gd name="adj2" fmla="val 20870"/>
            </a:avLst>
          </a:prstGeom>
          <a:ln xmlns:a="http://schemas.openxmlformats.org/drawingml/2006/main" w="19050">
            <a:solidFill>
              <a:srgbClr val="E99343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762375" y="2381250"/>
            <a:ext cx="3619500" cy="109537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584509-077A-4882-ACEB-BB9C5AEF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星期六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D32D2-D438-4BEE-AF6A-753ADD28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星期日</a:t>
            </a:r>
          </a:p>
        </p:txBody>
      </p:sp>
      <p:cxnSp>
        <p:nvCxnSpPr>
          <p:cNvPr id="54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9953625" y="2114550"/>
            <a:ext cx="809625" cy="2743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857875" y="3819525"/>
            <a:ext cx="3000375" cy="1409700"/>
          </a:xfrm>
          <a:prstGeom xmlns:a="http://schemas.openxmlformats.org/drawingml/2006/main" prst="bentConnector3">
            <a:avLst>
              <a:gd name="adj1" fmla="val 7619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2" idx="3"/>
            <a:endCxn xmlns:a="http://schemas.openxmlformats.org/drawingml/2006/main" id="10" idx="2"/>
          </p:cNvCxnSpPr>
          <p:nvPr/>
        </p:nvCxnSpPr>
        <p:spPr>
          <a:xfrm xmlns:a="http://schemas.openxmlformats.org/drawingml/2006/main" flipV="1">
            <a:off x="8286750" y="2114550"/>
            <a:ext cx="2476500" cy="170497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3" idx="2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476375" y="2276475"/>
            <a:ext cx="8477250" cy="35528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E99343"/>
            </a:solidFill>
            <a:prstDash val="dash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B48AC3-794D-40ED-8274-08F830B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53125"/>
            <a:ext cx="942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自动保存点：每个阶段完成后保存下一阶段，退出后不会重复结算行动或周测。</a:t>
            </a:r>
          </a:p>
        </p:txBody>
      </p:sp>
    </p:spTree>
    <p:extLst>
      <p:ext uri="{BB962C8B-B14F-4D97-AF65-F5344CB8AC3E}">
        <p14:creationId xmlns:p14="http://schemas.microsoft.com/office/powerpoint/2010/main" val="469494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B73FD-C785-4549-9DE3-48F74BB64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F40531-7195-4F55-8B52-5C83009D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UML 序列图：保存、退出与继续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39729-8584-4253-80E8-852F8AB2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SaveManager集中读写，GameProgress保证从未完成阶段恢复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1EB80-8038-4738-B498-3A67F7C4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52405-DB25-4612-A53D-9F899ED3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F8D1F-1DBE-4518-B230-2FC349B1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458D7-7AEC-440F-94BB-816FD8E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CommandParser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43CD5C-C1E6-4CF0-9F42-A2BC76C5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GameManager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B2D00A-11AC-41C5-AC28-5827D2E3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SaveManager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DF60D-B28A-4535-9B57-C91E7C44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28750"/>
            <a:ext cx="1285875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9525">
            <a:solidFill>
              <a:srgbClr val="2A766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save.txt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9AA4F-8966-4F5B-8839-2ABB25FD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62520-812B-4AAC-B747-B93F30ECB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87A90-8602-4716-8669-1EDF717F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EEBA4-09E3-41E9-AA82-2E139E16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C9692-9404-4899-8058-AFDB3F35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1885950"/>
            <a:ext cx="0" cy="390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9ECBBC"/>
            </a:solidFill>
            <a:prstDash val="dash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D762C-1094-4650-8EBB-C1640A25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9550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A766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B4788-781D-4F96-AC18-49828D63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857375"/>
            <a:ext cx="1971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输入 quit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EB357A-E717-42EC-9993-1CE11CDC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6193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A76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81CF6-AEC1-41AA-B934-CB7E8A33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handleCommand(quit)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BBAC65-A55D-4280-9E49-64FF3440D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4325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A766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107FAE-3342-425B-ABFB-6B9418EA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0512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saveGame(player,time,event,progress)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621B27-0A65-4A31-924E-6B66E815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671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A76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7C879A-8A58-43A2-8DE7-8A9BAA87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写临时文件并替换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7F4E81-61C3-4ABD-9A04-9A04C828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910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934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DF4CBA-7855-4052-BB48-BD180273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528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成功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9A7616-61F4-48EE-A8EB-C5533BECC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61962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934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F1C4A0-20B0-4C84-8C5C-270FDC17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815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true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D4C563-A581-4EBD-AF02-B0125B1A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95875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9934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9F96AD-6911-42BA-946B-4AB2AF12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857750"/>
            <a:ext cx="42576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提示已保存并退出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99A33-3E96-46A4-BB23-56A813EE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6019800"/>
            <a:ext cx="809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继续游戏时执行相反过程：读取版本标记和各项数据，验证成功后一次性恢复对象状态。</a:t>
            </a:r>
          </a:p>
        </p:txBody>
      </p:sp>
    </p:spTree>
    <p:extLst>
      <p:ext uri="{BB962C8B-B14F-4D97-AF65-F5344CB8AC3E}">
        <p14:creationId xmlns:p14="http://schemas.microsoft.com/office/powerpoint/2010/main" val="12270190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AA7D95-7FCB-41F2-85C1-6759F0BA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4B21FC-FD0E-4743-9D14-999CEB82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STL 标准模板库的应用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F84222-AFDC-483C-BEEF-625E5DE1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容器保存状态，算法负责查找与变换，迭代器统一遍历方式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625F52-4149-4366-A838-2D222676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14001-B293-45F7-A352-005E4AD5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5375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3333750"/>
                <a:gridCol w="3143250"/>
                <a:gridCol w="3000375"/>
              </a:tblGrid>
              <a:tr h="535781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76200" marR="76200" marT="47625" marB="47625">
                    <a:solidFill>
                      <a:srgbClr val="193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代码中的用途</a:t>
                      </a:r>
                    </a:p>
                  </a:txBody>
                  <a:tcPr marL="76200" marR="76200" marT="47625" marB="47625">
                    <a:solidFill>
                      <a:srgbClr val="193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典型位置</a:t>
                      </a:r>
                    </a:p>
                  </a:txBody>
                  <a:tcPr marL="76200" marR="76200" marT="47625" marB="47625">
                    <a:solidFill>
                      <a:srgbClr val="193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选择原因</a:t>
                      </a:r>
                    </a:p>
                  </a:txBody>
                  <a:tcPr marL="76200" marR="76200" marT="47625" marB="47625">
                    <a:solidFill>
                      <a:srgbClr val="193B33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物品、事件、NPC、路径、输入记录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Inventory / EventManager / GameProgress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连续存储，便于按顺序遍历</a:t>
                      </a:r>
                    </a:p>
                  </a:txBody>
                  <a:tcPr marL="76200" marR="76200" marT="38100" marB="38100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房间索引、出口、事件选择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CampusMap / Room / EventManager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通过键快速查找对象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set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已触发事件、NPC每日交谈记录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EventManager / GameProgress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元素不重复，适合判重</a:t>
                      </a:r>
                    </a:p>
                  </a:txBody>
                  <a:tcPr marL="76200" marR="76200" marT="38100" marB="38100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array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4个时段行动、16段固定故事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GameProgress / StoryData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数量固定，语义清楚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queue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地图BFS待访问房间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CampusMap::routeTo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先进先出，按层搜索</a:t>
                      </a:r>
                    </a:p>
                  </a:txBody>
                  <a:tcPr marL="76200" marR="76200" marT="38100" marB="38100"/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算法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find_if、any_of、reverse、clamp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背包、路径、属性与考试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复用标准实现，减少循环代码</a:t>
                      </a:r>
                    </a:p>
                  </a:txBody>
                  <a:tcPr marL="76200" marR="76200" marT="38100" marB="38100">
                    <a:solidFill>
                      <a:srgbClr val="EEF3E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迭代器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begin/end、范围for、erase位置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各容器遍历与删除</a:t>
                      </a:r>
                    </a:p>
                  </a:txBody>
                  <a:tcPr marL="76200" marR="76200" marT="38100" marB="38100"/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332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同一方式操作不同容器</a:t>
                      </a:r>
                    </a:p>
                  </a:txBody>
                  <a:tcPr marL="76200" marR="76200" marT="38100" marB="3810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F3E8D-77D3-4594-93BF-261E41FD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72175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智能指针 unique_ptr 配合 vector 管理 Player 和 Item 的生命周期，避免手动 delete。</a:t>
            </a:r>
          </a:p>
        </p:txBody>
      </p:sp>
    </p:spTree>
    <p:extLst>
      <p:ext uri="{BB962C8B-B14F-4D97-AF65-F5344CB8AC3E}">
        <p14:creationId xmlns:p14="http://schemas.microsoft.com/office/powerpoint/2010/main" val="14313621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654BD-C289-4584-BDEF-D2914E79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5DAC14-3E8B-4C77-895A-CF9664B2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核心算法：地图寻路与考试计算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440CC-04F7-4EBA-B87C-86F5B89F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两个算法分别解决“如何到达”和“学习成果怎样反馈”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68A64F-3319-4E00-A862-23040E9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18CC1-71B4-4D33-9C00-439E29A5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258AB-313A-40BB-BD10-BF7A5FA5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广度优先搜索 BFS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784DB8-6BE6-4456-8E82-7E64ABD6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1. 当前地点入队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D4A017-312F-4F75-A4B2-B4B2B442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47875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2. 取出队首房间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B49D0-DD1B-484B-90C0-6D2687FA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3. 访问未到达的相邻房间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92B70-DC06-4FA5-BED3-D0FABADE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048000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4. 记录前驱并继续入队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941B8B-C3FA-48F9-B365-15EB59A3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2383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5. 到达目标后反向回溯路径</a:t>
            </a:r>
          </a:p>
        </p:txBody>
      </p: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24175" y="232410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 flipH="1">
            <a:off x="1804988" y="2600325"/>
            <a:ext cx="2619375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924175" y="33242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804988" y="3600450"/>
            <a:ext cx="2619375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99343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9E0DCD-4EEF-481C-A1F6-8675ACA0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时间复杂度 O(V + E)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8E198-AB7B-4A83-A973-F630C202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76375"/>
            <a:ext cx="233362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周测与高考分数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FF451-1F86-415B-BB65-1BF57904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23837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得分率 =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87389D-D8EC-47A4-898D-D58489F1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29527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0.77 × 学科能力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+ 0.12 × 智力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+ 0.08 × 健康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+ 0.03 × 体力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− 0.08 × 压力</a:t>
            </a:r>
          </a:p>
          <a:p xmlns:a="http://schemas.openxmlformats.org/drawingml/2006/main">
            <a:pPr algn="ctr">
              <a:def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+ 周测随机波动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55791-4D8B-422F-A03C-B9C60C82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2386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单科分数 = 得分率 × 单科满分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D7D6A-5F8F-4927-9526-D325E434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1012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语文150  数学150  英语150  理综300</a:t>
            </a:r>
          </a:p>
          <a:p xmlns:a="http://schemas.openxmlformats.org/drawingml/2006/main">
            <a:pPr algn="ctr">
              <a:def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总分750；最终高考不加入随机波动</a:t>
            </a:r>
          </a:p>
        </p:txBody>
      </p:sp>
    </p:spTree>
    <p:extLst>
      <p:ext uri="{BB962C8B-B14F-4D97-AF65-F5344CB8AC3E}">
        <p14:creationId xmlns:p14="http://schemas.microsoft.com/office/powerpoint/2010/main" val="4167843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C0EFF7-D13A-42AC-8AB8-9290BEF8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E7C5B3-39B7-4E9B-B137-5A2D925A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设计模式与关键设计选择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A43C1-EA0E-48A0-93FD-2234370BE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只说明当前代码中能够对应和验证的设计，不把计划中的模式当作成果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5BB1B-6DAD-440A-BAB3-6DF5D6EE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5153D-A94F-436D-9988-EE5F586F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25D9D-C67D-4AB9-87F5-CA1DE043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Singleton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0CB823-2993-4267-8C45-08657D484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2875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GameManager::getInstance()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A12CC-D270-49D6-AFD0-4D233BA6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保证总调度器在程序中只有一个实例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8A5B4-12AD-4B36-84C4-18FE46ED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Simple Factory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A5C42-7049-4737-B1DF-9BB6511C5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3362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EventFactory::createEvent(id)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30A77-2E05-4D3F-A13C-FAFF7E74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把事件对象的创建集中到工厂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40C37F-15F5-4AB4-ADA1-8E8F8B6B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State Machine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AC683-396A-4E77-A67C-E6FEEB4D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3850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GameProgress::Stage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66CDA-BD96-44BD-89CD-3028D47F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把一天拆成可保存、可恢复的阶段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FE1DBD-49F9-498B-B331-A29B464F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Callback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FE252-A545-4E78-8582-76A58253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43375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CommandParser commandHandler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0A97B-DD0C-490A-80CD-7DCF2F43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输入模块通过函数对象把命令交给GameManager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A8686C-228B-4069-A6D6-17D8434AF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1714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2A766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RAII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D7E085-D48A-4289-9DB6-A4B19EFE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3429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unique_ptr 与 TemporaryFile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0B014-FC45-4E52-B437-55F4B131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482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对象离开作用域时自动释放资源或清理临时文件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75EB9E-0686-4934-B3BD-4B26074F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0579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D5B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D5B4A"/>
                </a:solidFill>
                <a:latin typeface="Microsoft YaHei"/>
                <a:ea typeface="Microsoft YaHei"/>
                <a:cs typeface="Microsoft YaHei"/>
              </a:rPr>
              <a:t>未采用：早期文档计划中的 Observer 没有形成完整实现，因此不作为本项目设计模式成果。</a:t>
            </a:r>
          </a:p>
        </p:txBody>
      </p:sp>
    </p:spTree>
    <p:extLst>
      <p:ext uri="{BB962C8B-B14F-4D97-AF65-F5344CB8AC3E}">
        <p14:creationId xmlns:p14="http://schemas.microsoft.com/office/powerpoint/2010/main" val="14731661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CBFB27-F2B1-45EE-8F8F-5371D14D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056AD-6F8F-4BAD-9C3C-D7A32AA6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测试与质量保证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6D21E-3937-499A-A34F-4DEDA3C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三层测试覆盖类行为、模块整合和真实可执行程序流程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E5733-6355-4798-98B2-A5E37AD7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FD1464-74E0-40D8-B3D2-60E65F31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7025E-A60F-40D3-9BC1-D34F9140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66875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CoreRegression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输入、地图、NPC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V1—V4存档与原子替换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CD129-2099-46D0-B3B4-FC44EF3CE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666875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9EC"/>
          </a:solidFill>
          <a:ln xmlns:a="http://schemas.openxmlformats.org/drawingml/2006/main" w="9525">
            <a:solidFill>
              <a:srgbClr val="9ECBBC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StoryIntegration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连续故事、行动重放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考试范围与界面对齐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623515-E3EE-49D7-A991-E6004058D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2952750" cy="13335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8"/>
          </a:solidFill>
          <a:ln xmlns:a="http://schemas.openxmlformats.org/drawingml/2006/main" w="9525">
            <a:solidFill>
              <a:srgbClr val="E9934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runtime_regression.py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驱动实际EXE</a:t>
            </a:r>
          </a:p>
          <a:p xmlns:a="http://schemas.openxmlformats.org/drawingml/2006/main">
            <a:pPr algn="ctr">
              <a:def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完整35天与中途恢复</a:t>
            </a:r>
          </a:p>
        </p:txBody>
      </p: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71875" y="23336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7668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72375" y="233362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99343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51125-5E76-470F-BED3-1503E03E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AFB51D-B610-4E7D-8BB4-A3E74CC7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天完整通关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892D7-E8DE-42ED-B3A5-179FCB51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CAD54-3204-41BE-85B1-E074977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次周测出现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D5B28-FFB3-45D2-A0A2-780BF79B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7E84BE-B038-4784-9601-EC58192A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段连续故事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CDD3F8-D076-49A2-BE81-714C12A2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17FF9-5DFF-4E39-8C96-893D7FDF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个地点连通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8696B-9247-4CA4-82CE-CBADAD1A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14750"/>
            <a:ext cx="190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V1—V4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BC41B6-F141-43B2-80F2-8DDDE285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43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存档兼容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00A49-5BEE-4519-B2EB-01BF40B5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500"/>
              </a:spcAft>
              <a:buChar char="•"/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非法输入、输入结束和保存失败不会让游戏空跑或错误跳天</a:t>
            </a:r>
          </a:p>
          <a:p xmlns:a="http://schemas.openxmlformats.org/drawingml/2006/main">
            <a:pPr marL="215900" indent="-101600" algn="l">
              <a:spcAft>
                <a:spcPts val="500"/>
              </a:spcAft>
              <a:buChar char="•"/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读档不会重复扣钱、重复学习、重复周测或重复领取NPC奖励</a:t>
            </a:r>
          </a:p>
          <a:p xmlns:a="http://schemas.openxmlformats.org/drawingml/2006/main">
            <a:pPr marL="215900" indent="-101600" algn="l">
              <a:spcAft>
                <a:spcPts val="500"/>
              </a:spcAft>
              <a:buChar char="•"/>
              <a:def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Windows版本静态链接C++运行库，降低其他电脑缺少DLL的风险</a:t>
            </a:r>
          </a:p>
        </p:txBody>
      </p:sp>
    </p:spTree>
    <p:extLst>
      <p:ext uri="{BB962C8B-B14F-4D97-AF65-F5344CB8AC3E}">
        <p14:creationId xmlns:p14="http://schemas.microsoft.com/office/powerpoint/2010/main" val="14059443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38D048-54FA-4705-B62D-C4899933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93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8BF65-12BD-4C39-BB3D-0A44A310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程序演示路线与总结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4C156-2CA9-47A9-912F-7AD5B67EB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66775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E6B66"/>
                </a:solidFill>
                <a:latin typeface="Microsoft YaHei"/>
                <a:ea typeface="Microsoft YaHei"/>
                <a:cs typeface="Microsoft YaHei"/>
              </a:rPr>
              <a:t>课堂上用一条短路线展示核心功能，再用预备存档跳到周测和结局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12522F-BF93-4C8F-B638-883F2F4B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1095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ECB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7B829-951D-414F-ADEB-A05C950F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2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2BE69-8997-45EE-872E-F7B52445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2865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14288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C4C64-4881-4A87-95D3-1F8E2E22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0C45C"/>
                </a:solidFill>
                <a:latin typeface="Microsoft YaHei"/>
                <a:ea typeface="Microsoft YaHei"/>
                <a:cs typeface="Microsoft YaHei"/>
              </a:rPr>
              <a:t>《铃响之前》 · 演示命令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F0775-0183-43E9-A055-436D1030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43125"/>
            <a:ext cx="5572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1  新游戏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输入姓名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选择晨间行动，观察属性变化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地图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北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人物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交谈 班主任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存档 / 退出</a:t>
            </a:r>
          </a:p>
          <a:p xmlns:a="http://schemas.openxmlformats.org/drawingml/2006/main">
            <a:pPr algn="l">
              <a:def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F2E8"/>
                </a:solidFill>
                <a:latin typeface="Microsoft YaHei"/>
                <a:ea typeface="Microsoft YaHei"/>
                <a:cs typeface="Microsoft YaHei"/>
              </a:rPr>
              <a:t>&gt; 2  继续游戏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A0B691-CDB5-4A0A-88CB-97282B50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71625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251F"/>
                </a:solidFill>
                <a:latin typeface="Microsoft YaHei"/>
                <a:ea typeface="Microsoft YaHei"/>
                <a:cs typeface="Microsoft YaHei"/>
              </a:rPr>
              <a:t>演示重点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2622E-4DD3-4B88-90F0-32A36A63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714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行动产生明确数值反馈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地点移动后自动显示NPC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周测显示750分成绩与薄弱科目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继续游戏恢复日期、地点和未完成阶段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332D"/>
                </a:solidFill>
                <a:latin typeface="Microsoft YaHei"/>
                <a:ea typeface="Microsoft YaHei"/>
                <a:cs typeface="Microsoft YaHei"/>
              </a:rPr>
              <a:t>第35天生成大学去向与叙事结局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02D36-B2BD-428B-8912-95DCABC9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86300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99343"/>
                </a:solidFill>
                <a:latin typeface="Microsoft YaHei"/>
                <a:ea typeface="Microsoft YaHei"/>
                <a:cs typeface="Microsoft YaHei"/>
              </a:rPr>
              <a:t>项目结果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4EACE-DC08-4525-BFA2-1958B1D2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A7668"/>
                </a:solidFill>
                <a:latin typeface="Microsoft YaHei"/>
                <a:ea typeface="Microsoft YaHei"/>
                <a:cs typeface="Microsoft YaHei"/>
              </a:rPr>
              <a:t>完成了一个可编译、可游玩、可保存、可测试的C++17文字MUD，并通过模块化设计把核心调度与具体功能分离。</a:t>
            </a:r>
          </a:p>
        </p:txBody>
      </p:sp>
    </p:spTree>
    <p:extLst>
      <p:ext uri="{BB962C8B-B14F-4D97-AF65-F5344CB8AC3E}">
        <p14:creationId xmlns:p14="http://schemas.microsoft.com/office/powerpoint/2010/main" val="868362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2026-09-14T12:56:18.9660000Z</dcterms:created>
  <dcterms:modified xsi:type="dcterms:W3CDTF">2026-09-14T12:56:18.9660000Z</dcterms:modified>
</coreProperties>
</file>